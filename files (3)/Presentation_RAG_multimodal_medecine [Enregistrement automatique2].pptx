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CB3F941-2F12-4A95-B8B3-84AB9E181601}">
          <p14:sldIdLst>
            <p14:sldId id="256"/>
            <p14:sldId id="257"/>
          </p14:sldIdLst>
        </p14:section>
        <p14:section name="Le RAG" id="{F797E8C4-7A14-DB70-823F-35FC300D58D3}">
          <p14:sldIdLst>
            <p14:sldId id="258"/>
            <p14:sldId id="259"/>
            <p14:sldId id="260"/>
            <p14:sldId id="261"/>
          </p14:sldIdLst>
        </p14:section>
        <p14:section name="RAG multimodal" id="{737BA506-C598-F4B8-B639-D98435DC68F0}">
          <p14:sldIdLst>
            <p14:sldId id="262"/>
            <p14:sldId id="263"/>
            <p14:sldId id="264"/>
            <p14:sldId id="265"/>
          </p14:sldIdLst>
        </p14:section>
        <p14:section name="Cas médical" id="{B9B74447-211E-CCDB-7245-55D9D411536A}">
          <p14:sldIdLst>
            <p14:sldId id="266"/>
            <p14:sldId id="267"/>
          </p14:sldIdLst>
        </p14:section>
        <p14:section name="Analyse critique" id="{3368F98C-53CD-F805-66EA-B04414D6B048}">
          <p14:sldIdLst>
            <p14:sldId id="268"/>
            <p14:sldId id="269"/>
          </p14:sldIdLst>
        </p14:section>
        <p14:section name="Conclusion" id="{03E86030-FF58-F233-0055-DE2479B0BB33}">
          <p14:sldIdLst>
            <p14:sldId id="270"/>
            <p14:sldId id="271"/>
          </p14:sldIdLst>
        </p14:section>
        <p14:section name="Annexes" id="{12E1A014-8861-1DB4-DB67-88236A702799}">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69542" autoAdjust="0"/>
  </p:normalViewPr>
  <p:slideViewPr>
    <p:cSldViewPr snapToGrid="0" snapToObjects="1">
      <p:cViewPr varScale="1">
        <p:scale>
          <a:sx n="76" d="100"/>
          <a:sy n="76" d="100"/>
        </p:scale>
        <p:origin x="167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300" b="0" i="0" u="none" strike="noStrike">
                <a:solidFill>
                  <a:srgbClr val="1B2A33"/>
                </a:solidFill>
                <a:latin typeface="+mn-lt"/>
              </a:defRPr>
            </a:pPr>
            <a:r>
              <a:rPr lang="fr-FR" sz="1300" b="0" i="0" u="none" strike="noStrike">
                <a:solidFill>
                  <a:srgbClr val="1B2A33"/>
                </a:solidFill>
                <a:latin typeface="+mn-lt"/>
              </a:rPr>
              <a:t>nDCG@5 moyen (10 tâches ViDoRe)</a:t>
            </a:r>
          </a:p>
        </c:rich>
      </c:tx>
      <c:overlay val="0"/>
    </c:title>
    <c:autoTitleDeleted val="0"/>
    <c:plotArea>
      <c:layout/>
      <c:barChart>
        <c:barDir val="col"/>
        <c:grouping val="clustered"/>
        <c:varyColors val="0"/>
        <c:ser>
          <c:idx val="0"/>
          <c:order val="0"/>
          <c:tx>
            <c:strRef>
              <c:f>Sheet1!$B$1</c:f>
              <c:strCache>
                <c:ptCount val="1"/>
                <c:pt idx="0">
                  <c:v>nDCG@5 moyen</c:v>
                </c:pt>
              </c:strCache>
            </c:strRef>
          </c:tx>
          <c:spPr>
            <a:solidFill>
              <a:srgbClr val="028090"/>
            </a:solidFill>
            <a:effectLst/>
          </c:spPr>
          <c:invertIfNegative val="0"/>
          <c:dLbls>
            <c:numFmt formatCode="0.0" sourceLinked="0"/>
            <c:spPr>
              <a:noFill/>
              <a:ln>
                <a:noFill/>
              </a:ln>
              <a:effectLst/>
            </c:spPr>
            <c:txPr>
              <a:bodyPr/>
              <a:lstStyle/>
              <a:p>
                <a:pPr>
                  <a:defRPr sz="1200" b="0" i="0" u="none" strike="noStrike">
                    <a:solidFill>
                      <a:srgbClr val="1B2A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Pipeline OCR</c:v>
                </c:pt>
                <c:pt idx="1">
                  <c:v>Pipeline légendage</c:v>
                </c:pt>
                <c:pt idx="2">
                  <c:v>SigLIP</c:v>
                </c:pt>
                <c:pt idx="3">
                  <c:v>BiPali</c:v>
                </c:pt>
                <c:pt idx="4">
                  <c:v>ColPali</c:v>
                </c:pt>
              </c:strCache>
            </c:strRef>
          </c:cat>
          <c:val>
            <c:numRef>
              <c:f>Sheet1!$B$2:$B$6</c:f>
              <c:numCache>
                <c:formatCode>General</c:formatCode>
                <c:ptCount val="5"/>
                <c:pt idx="0">
                  <c:v>66.099999999999994</c:v>
                </c:pt>
                <c:pt idx="1">
                  <c:v>67</c:v>
                </c:pt>
                <c:pt idx="2">
                  <c:v>51.4</c:v>
                </c:pt>
                <c:pt idx="3">
                  <c:v>58.8</c:v>
                </c:pt>
                <c:pt idx="4">
                  <c:v>81.3</c:v>
                </c:pt>
              </c:numCache>
            </c:numRef>
          </c:val>
          <c:extLst>
            <c:ext xmlns:c16="http://schemas.microsoft.com/office/drawing/2014/chart" uri="{C3380CC4-5D6E-409C-BE32-E72D297353CC}">
              <c16:uniqueId val="{00000000-00C9-468B-9E8F-CB6E8CB032A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E3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mn-lt"/>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300" b="0" i="0" u="none" strike="noStrike">
                <a:solidFill>
                  <a:srgbClr val="1B2A33"/>
                </a:solidFill>
                <a:latin typeface="+mn-lt"/>
              </a:defRPr>
            </a:pPr>
            <a:r>
              <a:rPr lang="fr-FR" sz="1300" b="0" i="0" u="none" strike="noStrike">
                <a:solidFill>
                  <a:srgbClr val="1B2A33"/>
                </a:solidFill>
                <a:latin typeface="+mn-lt"/>
              </a:rPr>
              <a:t>CXR-PRO, K = 3 phrases</a:t>
            </a:r>
          </a:p>
        </c:rich>
      </c:tx>
      <c:overlay val="0"/>
    </c:title>
    <c:autoTitleDeleted val="0"/>
    <c:plotArea>
      <c:layout/>
      <c:barChart>
        <c:barDir val="col"/>
        <c:grouping val="clustered"/>
        <c:varyColors val="0"/>
        <c:ser>
          <c:idx val="0"/>
          <c:order val="0"/>
          <c:tx>
            <c:strRef>
              <c:f>Sheet1!$B$1</c:f>
              <c:strCache>
                <c:ptCount val="1"/>
                <c:pt idx="0">
                  <c:v>BERTScore</c:v>
                </c:pt>
              </c:strCache>
            </c:strRef>
          </c:tx>
          <c:spPr>
            <a:solidFill>
              <a:srgbClr val="028090"/>
            </a:solidFill>
            <a:effectLst/>
          </c:spPr>
          <c:invertIfNegative val="0"/>
          <c:dLbls>
            <c:numFmt formatCode="0.00" sourceLinked="0"/>
            <c:spPr>
              <a:noFill/>
              <a:ln>
                <a:noFill/>
              </a:ln>
              <a:effectLst/>
            </c:spPr>
            <c:txPr>
              <a:bodyPr/>
              <a:lstStyle/>
              <a:p>
                <a:pPr>
                  <a:defRPr sz="1100" b="0" i="0" u="none" strike="noStrike">
                    <a:solidFill>
                      <a:srgbClr val="1B2A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Récupération seule</c:v>
                </c:pt>
                <c:pt idx="1">
                  <c:v>davinci-003</c:v>
                </c:pt>
                <c:pt idx="2">
                  <c:v>GPT-3.5</c:v>
                </c:pt>
                <c:pt idx="3">
                  <c:v>GPT-4</c:v>
                </c:pt>
              </c:strCache>
            </c:strRef>
          </c:cat>
          <c:val>
            <c:numRef>
              <c:f>Sheet1!$B$2:$B$5</c:f>
              <c:numCache>
                <c:formatCode>General</c:formatCode>
                <c:ptCount val="4"/>
                <c:pt idx="0">
                  <c:v>0.2276</c:v>
                </c:pt>
                <c:pt idx="1">
                  <c:v>0.2782</c:v>
                </c:pt>
                <c:pt idx="2">
                  <c:v>0.27479999999999999</c:v>
                </c:pt>
                <c:pt idx="3">
                  <c:v>0.28649999999999998</c:v>
                </c:pt>
              </c:numCache>
            </c:numRef>
          </c:val>
          <c:extLst>
            <c:ext xmlns:c16="http://schemas.microsoft.com/office/drawing/2014/chart" uri="{C3380CC4-5D6E-409C-BE32-E72D297353CC}">
              <c16:uniqueId val="{00000000-0220-436D-97B0-D19FC4A206DA}"/>
            </c:ext>
          </c:extLst>
        </c:ser>
        <c:ser>
          <c:idx val="1"/>
          <c:order val="1"/>
          <c:tx>
            <c:strRef>
              <c:f>Sheet1!$C$1</c:f>
              <c:strCache>
                <c:ptCount val="1"/>
                <c:pt idx="0">
                  <c:v>S_emb</c:v>
                </c:pt>
              </c:strCache>
            </c:strRef>
          </c:tx>
          <c:spPr>
            <a:solidFill>
              <a:srgbClr val="D9623B"/>
            </a:solidFill>
            <a:effectLst/>
          </c:spPr>
          <c:invertIfNegative val="0"/>
          <c:dLbls>
            <c:numFmt formatCode="0.00" sourceLinked="0"/>
            <c:spPr>
              <a:noFill/>
              <a:ln>
                <a:noFill/>
              </a:ln>
              <a:effectLst/>
            </c:spPr>
            <c:txPr>
              <a:bodyPr/>
              <a:lstStyle/>
              <a:p>
                <a:pPr>
                  <a:defRPr sz="1100" b="0" i="0" u="none" strike="noStrike">
                    <a:solidFill>
                      <a:srgbClr val="1B2A3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Récupération seule</c:v>
                </c:pt>
                <c:pt idx="1">
                  <c:v>davinci-003</c:v>
                </c:pt>
                <c:pt idx="2">
                  <c:v>GPT-3.5</c:v>
                </c:pt>
                <c:pt idx="3">
                  <c:v>GPT-4</c:v>
                </c:pt>
              </c:strCache>
            </c:strRef>
          </c:cat>
          <c:val>
            <c:numRef>
              <c:f>Sheet1!$C$2:$C$5</c:f>
              <c:numCache>
                <c:formatCode>General</c:formatCode>
                <c:ptCount val="4"/>
                <c:pt idx="0">
                  <c:v>0.37869999999999998</c:v>
                </c:pt>
                <c:pt idx="1">
                  <c:v>0.40300000000000002</c:v>
                </c:pt>
                <c:pt idx="2">
                  <c:v>0.39729999999999999</c:v>
                </c:pt>
                <c:pt idx="3">
                  <c:v>0.40260000000000001</c:v>
                </c:pt>
              </c:numCache>
            </c:numRef>
          </c:val>
          <c:extLst>
            <c:ext xmlns:c16="http://schemas.microsoft.com/office/drawing/2014/chart" uri="{C3380CC4-5D6E-409C-BE32-E72D297353CC}">
              <c16:uniqueId val="{00000001-0220-436D-97B0-D19FC4A206D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0.5"/>
          <c:min val="0"/>
        </c:scaling>
        <c:delete val="0"/>
        <c:axPos val="l"/>
        <c:majorGridlines>
          <c:spPr>
            <a:ln w="6350" cap="flat">
              <a:solidFill>
                <a:srgbClr val="D5E3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B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8233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le RAG multimodal, avec un angle précis : son utilisation en radiologie pour générer des comptes rendus à partir d’images. Plan en 10 minutes : le principe du RAG, son extension aux images, un cas concret tiré de la littérature, puis une analyse critique avec les enjeux éthiques.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en cinq parties pour environ dix minutes. D’abord le RAG : un problème concret, la solution et son architecture, avec les trois paradigmes décrits dans le survey de Gao et al. Ensuite le RAG multimodal en général, sous plusieurs angles, d’après le survey de Mei et al., avec l’exemple de ColPali. Puis le cas médical, CXR-RePaiR-Gen de Ranjit et al. Enfin l’analyse critique avec les enjeux éthiques, et la conclusion. Les composants et les formules sont en annexe, pour répondre aux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un problème concret. Imaginons un médecin qui interroge un assistant fondé sur un LLM à propos du suivi d’un petit nodule pulmonaire. Le modèle répond avec aplomb, mais trois choses peuvent mal tourner : ses connaissances sont figées à la date de son entraînement, donc il peut citer d’anciennes recommandations ; il peut halluciner, par exemple inventer une référence ; et il ne donne aucune source vérifiable, ni accès aux protocoles de l’hôpital. C’est un scénario illustratif, qui suit la même logique que l’exemple de Gao et al. : un LLM interrogé sur un événement récent ne peut pas répondre, faute de connaître ces données. Le risque est réel. En médecine, c’est inacceptable. Il nous faut un LLM qui consulte des sources fiables avant de répondre.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s’appelle le RAG, pour Retrieval-Augmented Generation, proposé par Lewis et al. en 2020. Au lieu de répondre de mémoire, le système travaille en trois temps : il reçoit la question, il récupère dans une base de documents les passages les plus proches, puis le LLM rédige sa réponse à partir de ces passages. Reprenons notre exemple : le système retrouve la recommandation en vigueur, et le LLM répond en citant cette source. Les atouts : moins d’hallucinations, des connaissances à jour sans réentraîner le modèle, et des sources traçables.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d’un système RAG, en deux phases. Phase 1, hors ligne, l’indexation : on collecte les documents, on les découpe en passages courts (chunk), un encodeur transforme chaque passage en vecteur, et on range ces vecteurs dans une base vectorielle. Phase 2, en ligne, à chaque question : on encode la question avec le même modèle, on cherche dans la base les K passages les plus proches, on assemble un prompt augmenté avec la question, ces passages et des consignes, et le LLM rédige la réponse, accompagnée de ses sources. Le point clé : le même encodeur est utilisé des deux côtés, pour que question et documents vivent dans le même espace de </a:t>
            </a:r>
            <a:r>
              <a:rPr lang="en-US" dirty="0" err="1"/>
              <a:t>vecteurs</a:t>
            </a:r>
            <a:r>
              <a:rPr lang="en-US" dirty="0"/>
              <a:t>.</a:t>
            </a:r>
          </a:p>
          <a:p>
            <a:endParaRPr lang="en-US" dirty="0"/>
          </a:p>
          <a:p>
            <a:r>
              <a:rPr lang="fr-FR" dirty="0"/>
              <a:t>Les auteurs utilisent un mécanisme appelé DPR (Dense Passage </a:t>
            </a:r>
            <a:r>
              <a:rPr lang="fr-FR" dirty="0" err="1"/>
              <a:t>Retrieval</a:t>
            </a:r>
            <a:r>
              <a:rPr lang="fr-FR" dirty="0"/>
              <a:t>), fondé sur deux encodeurs neuronaux :</a:t>
            </a:r>
          </a:p>
          <a:p>
            <a:pPr lvl="0"/>
            <a:r>
              <a:rPr lang="fr-FR" dirty="0"/>
              <a:t>	un encodeur de requête, qui transforme la question en vecteur ;</a:t>
            </a:r>
          </a:p>
          <a:p>
            <a:pPr lvl="0"/>
            <a:r>
              <a:rPr lang="fr-FR" dirty="0"/>
              <a:t>	un encodeur de documents, qui transforme les passages documentaires en vecteurs.</a:t>
            </a:r>
          </a:p>
          <a:p>
            <a:pPr lvl="0"/>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La similarité entre ces vecteurs permet de classer les documents. La recherche des meilleurs candidats est effectuée à l'aide d'une technique appelée Maximum </a:t>
            </a:r>
            <a:r>
              <a:rPr lang="fr-FR" dirty="0" err="1"/>
              <a:t>Inner</a:t>
            </a:r>
            <a:r>
              <a:rPr lang="fr-FR" dirty="0"/>
              <a:t> Product </a:t>
            </a:r>
            <a:r>
              <a:rPr lang="fr-FR" dirty="0" err="1"/>
              <a:t>Search</a:t>
            </a:r>
            <a:r>
              <a:rPr lang="fr-FR"/>
              <a:t> (MIPS).</a:t>
            </a:r>
          </a:p>
          <a:p>
            <a:pPr lvl="0"/>
            <a:endParaRPr lang="fr-FR"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Gao et al. classent plus de cent travaux en trois paradigmes. Le Naive RAG est le schéma de base : indexer, récupérer, lire. Ses faiblesses : une récupération imprécise, une génération qui peut halluciner, une augmentation parfois redondante. L’Advanced RAG ajoute des optimisations avant la recherche, comme la reformulation de la question, et après, comme le reclassement et la compression du contexte. Le Modular RAG découpe le système en modules combinables, recherche, mémoire, routage, fusion, et autorise des flux itératifs, récursifs ou adaptatifs, où le modèle décide lui-même quand chercher.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 multimodal ? Le RAG classique ne manipule que du texte, alors que la connaissance est aussi dans des images, des vidéos et des mises en page. Le survey de Mei et al. décrit trois étapes. MRAG 1.0, un pseudo-multimodal : tout est converti en texte par OCR et légendes, on perd de l’information. MRAG 2.0 : on conserve les données d’origine, la recherche devient cross-modale et un modèle de langage multimodal génère la réponse. MRAG 3.0 : les pages sont conservées en captures d’écran, un module planifie la recherche, et la sortie peut elle-même être multimodale.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multimodal peut se regarder sous six angles. Un : l’évolution, du tout texte au MRAG 3.0. Deux : les modalités, image, vidéo, audio, documents semi-structurés comme les PDF. Trois : le parsing, faut-il extraire le contenu par OCR ou indexer directement la page. Quatre : le retrieval, avec la planification de la recherche, le retriever, le reclassement et la condensation du contexte. Cinq : la génération, par des modèles multimodaux, avec une sortie qui peut être du texte ou un mélange texte et images. Six : l’évaluation et les défis, notamment une recherche multimodale encore moins performante que la recherche textuelle, le coût de calcul et la lourdeur du parsing.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ColPali illustre le passage de la recherche par extraction à la recherche par représentation. Les auteurs constatent que, dans les systèmes industriels, le goulot d’étranglement n’est pas le modèle d’embedding mais le pipeline d’ingestion des PDF : OCR, détection de mise en page, découpage, légendage des figures. Ils proposent d’indexer directement l’image de chaque page avec un modèle vision-langage, PaliGemma-3B, dont chaque vecteur de sortie est projeté en dimension 128. Une page est donc représentée par un vecteur par patch d’image, et la requête par un vecteur par token. Le score est calculé par late interaction.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benchmark ViDoRe, mesuré en nDCG@5, ColPali obtient en moyenne 81,3, contre environ 66 à 67 pour les meilleurs pipelines textuels, avec OCR ou légendage des figures. L’écart est le plus net sur les documents visuellement riches : 79,1 contre 40,1 sur ArxivQA, 83,9 contre 70,8 sur les tableaux de TabFQuAD. En contrepartie, ColPali stocke environ 257,5 kilo-octets par page, un vecteur par patch, et l’encodage de la requête prend environ 30 millisecondes contre 22 pour un modèle texte. En bas, la formule de late interaction : pour chaque vecteur de la requête, on prend sa similarité maximale avec les vecteurs de la page, puis on additionne.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médical : CXR-RePaiR-Gen, de Ranjit et al. L’idée : pas besoin d’un LLM médical, il suffit d’un récupérateur spécialisé et d’un LLM généraliste. On part d’une radio thoracique. Un modèle vision-langage, ALBEF, l’encode et retrouve les K phrases les plus proches dans une base de 374 139 rapports, CXR-PRO, dérivée de MIMIC-CXR. Ces phrases sont placées dans un prompt avec des instructions, par exemple ne pas mentionner d’examens antérieurs, et un LLM rédige l’impression. Notez que le LLM ne voit jamais l’image : la partie multimodale se limite à la récupération.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auteurs comparent leur système à CXR-ReDonE, une approche de pure récupération. Sur 2 188 radios de test, avec trois phrases récupérées, GPT-4 fait passer le </a:t>
            </a:r>
            <a:r>
              <a:rPr lang="en-US" dirty="0" err="1"/>
              <a:t>BERTScore</a:t>
            </a:r>
            <a:r>
              <a:rPr lang="en-US" dirty="0"/>
              <a:t> (de 0,228 à 0,287), soit environ 26 % en relatif, et le score </a:t>
            </a:r>
            <a:r>
              <a:rPr lang="en-US" dirty="0" err="1"/>
              <a:t>S_emb</a:t>
            </a:r>
            <a:r>
              <a:rPr lang="en-US" dirty="0"/>
              <a:t> (de 0,379 à 0,403). Le score RadGraph F1, qui mesure le recouvrement des entités cliniques, reste proche de la baseline sans la dépasser : c’est logique, le générateur ne peut pas citer plus d’entités que celles récupérées, sinon il inventerait. Autre résultat : GPT-4 respecte bien les instructions, 80 références sur 87 à des examens antérieurs ont été retirées et les 40 recommandations de suivi ont toutes été exclues.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apports : la sortie est ancrée dans de vrais rapports, pas besoin d’entraîner un LLM médical, on peut piloter le contenu et le format par le prompt, et les sources sont traçables. Côté limites, et c’est là que l’esprit critique compte : tout dépend du retrieval, si une anomalie n’est pas récupérée elle n’apparaîtra pas, et les auteurs le reconnaissent. Le LLM ne voit pas l’image, donc il ne peut pas vérifier une taille ou une sévérité. L’évaluation repose sur des métriques automatiques, l’article ne rapporte pas d’évaluation par des radiologues, et les scores absolus restent modestes. Enfin, un seul type d’examen et une base en anglais : la généralisation n’est pas prouvée.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enjeux éthiques principaux. La responsabilité : qui répond d’une erreur ? Le brouillon doit toujours être validé par le radiologue. Le biais d’automatisation : le vrai danger est un compte rendu plausible mais subtilement faux, que l’on remet moins en question. La confidentialité : envoyer des images ou des textes à une API externe pose problème pour des données de santé. L’équité : les bases sont peu diversifiées et centrées sur l’anglais, donc les performances peuvent varier selon les patients. La transparence : afficher les phrases sources. Et la régulation : un tel outil peut relever des dispositifs médicaux et nécessite une validation clinique.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le RAG multimodal permet d’interroger une base de textes à partir d’une image, et de combiner la fiabilité de documents réels avec la souplesse d’un LLM. CXR-RePaiR-Gen en est une bonne illustration, avec des gains mesurables. Mais ses limites sont claires : dépendance au retrieval, LLM aveugle à l’image, évaluation sans experts cliniques. Ce type d’outil est une aide à la rédaction, qui doit rester sous le contrôle du praticien. Merci de votre attention, je suis prêt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Reprenons les composants. Le découpage : des passages courts, plus faciles à retrouver avec précision. L’encodeur : il transforme un texte, ou une image en multimodal, en vecteur. La base vectorielle, par exemple FAISS ou Chroma, stocke ces vecteurs et retrouve vite les voisins. Le retriever sélectionne les K passages les plus proches, avec la similarité cosinus : le produit scalaire entre la question et le passage, divisé par leurs normes. Le prompt augmenté assemble question, passages et consignes. Enfin le LLM rédige. La qualité dépend de réglages comme la taille des passages, la valeur de K et l’encodeur : si le retrieval ramène de mauvais passages, le LLM s’appuiera dessus.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formules des modèles du RAG, d’après Lewis et al. 2020 et Karpukhin et al. 2020. Première ligne : le retriever. Deux encodeurs BERT transforment la question x et le passage z en vecteurs ; leur produit scalaire donne le score de pertinence s(x, z). Deuxième ligne : une fonction softmax transforme ces scores en probabilités sur les K passages retenus. Le passage le mieux noté a le plus de poids. Troisième ligne, RAG-Sequence : le même passage sert à générer toute la réponse, et on combine les réponses de chaque passage en les pondérant par p_η(z|x). Quatrième ligne, RAG-Token : chaque mot peut s’appuyer sur un passage différent, la somme sur les passages est faite à chaque mot. Le générateur, lui, produit la réponse mot par mot : chaque mot dépend de la question, du passage et des mots déjà écrits. Les encodeurs et le générateur reposent tous sur le mécanisme d’attention des Transformers, softmax de Q fois K transposé divisé par racine de d_k, fois V.</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Formules du RAG multimodal. CLIP : perte contrastive sur un lot de N paires image-texte, qui augmente la similarité cosinus des vrais couples par rapport aux faux, dans les deux sens. ALBEF, le modèle d’encodage du cas médical, combine trois pertes : contrastive, appariement image-texte et texte masqué. La late interaction de ColPali : pour chaque vecteur de la requête, on retient le produit scalaire maximal avec les vecteurs de la page, puis on additionne. Enfin le RAG multimodal garde la forme de RAG-Sequence, avec une image comme requête.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formules de Ranjit et al. Première ligne : les K phrases sélectionnées sont celles dont le produit scalaire avec l’embedding de la radiographie est le plus élevé. Deuxième ligne : l’impression I est générée par le LLM à partir d’un prompt qui contient les instructions Q et les K phrases récupérées. Troisième ligne : si le contexte dépasse la limite du LLM, l’impression est construite par étapes, en passant au modèle l’impression précédente et la phrase suivante. Ce mode refine n’a pas été nécessaire dans leurs expériences car K reste petit.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txBox="1"/>
          <p:nvPr/>
        </p:nvSpPr>
        <p:spPr>
          <a:xfrm>
            <a:off x="548640" y="4736592"/>
            <a:ext cx="4572000" cy="256032"/>
          </a:xfrm>
          <a:prstGeom prst="rect">
            <a:avLst/>
          </a:prstGeom>
          <a:noFill/>
          <a:ln/>
        </p:spPr>
        <p:txBody>
          <a:bodyPr wrap="square" lIns="0" tIns="0" rIns="0" bIns="0" rtlCol="0" anchor="ctr"/>
          <a:lstStyle/>
          <a:p>
            <a:pPr marL="0" indent="0">
              <a:buNone/>
            </a:pPr>
            <a:r>
              <a:rPr lang="en-US" sz="1000" dirty="0">
                <a:solidFill>
                  <a:schemeClr val="tx2"/>
                </a:solidFill>
              </a:rPr>
              <a:t>RAG multimodal en médecine</a:t>
            </a:r>
            <a:endParaRPr lang="en-US" sz="10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1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ône radiographie fond"/>
          <p:cNvSpPr/>
          <p:nvPr/>
        </p:nvSpPr>
        <p:spPr>
          <a:xfrm>
            <a:off x="548640" y="822960"/>
            <a:ext cx="822960" cy="822960"/>
          </a:xfrm>
          <a:prstGeom prst="ellipse">
            <a:avLst/>
          </a:prstGeom>
          <a:solidFill>
            <a:schemeClr val="accent1"/>
          </a:solidFill>
          <a:ln/>
        </p:spPr>
        <p:txBody>
          <a:bodyPr/>
          <a:lstStyle/>
          <a:p>
            <a:endParaRPr lang="fr-FR"/>
          </a:p>
        </p:txBody>
      </p:sp>
      <p:pic>
        <p:nvPicPr>
          <p:cNvPr id="3" name="Icône radiographie" descr="Icône radiographie"/>
          <p:cNvPicPr>
            <a:picLocks noChangeAspect="1"/>
          </p:cNvPicPr>
          <p:nvPr/>
        </p:nvPicPr>
        <p:blipFill>
          <a:blip r:embed="rId3"/>
          <a:stretch>
            <a:fillRect/>
          </a:stretch>
        </p:blipFill>
        <p:spPr>
          <a:xfrm>
            <a:off x="754380" y="1028700"/>
            <a:ext cx="411480" cy="411480"/>
          </a:xfrm>
          <a:prstGeom prst="rect">
            <a:avLst/>
          </a:prstGeom>
        </p:spPr>
      </p:pic>
      <p:sp>
        <p:nvSpPr>
          <p:cNvPr id="4" name="Titre"/>
          <p:cNvSpPr txBox="1"/>
          <p:nvPr/>
        </p:nvSpPr>
        <p:spPr>
          <a:xfrm>
            <a:off x="548640" y="1645920"/>
            <a:ext cx="8046720" cy="914400"/>
          </a:xfrm>
          <a:prstGeom prst="rect">
            <a:avLst/>
          </a:prstGeom>
          <a:noFill/>
          <a:ln/>
        </p:spPr>
        <p:txBody>
          <a:bodyPr wrap="square" lIns="0" tIns="0" rIns="0" bIns="0" rtlCol="0" anchor="ctr"/>
          <a:lstStyle/>
          <a:p>
            <a:pPr marL="0" indent="0">
              <a:buNone/>
            </a:pPr>
            <a:r>
              <a:rPr lang="en-US" sz="4000" b="1" dirty="0">
                <a:solidFill>
                  <a:schemeClr val="bg1"/>
                </a:solidFill>
                <a:latin typeface="+mj-lt" pitchFamily="34" charset="0"/>
                <a:ea typeface="+mj-lt" pitchFamily="34" charset="-122"/>
                <a:cs typeface="+mj-lt" pitchFamily="34" charset="-120"/>
              </a:rPr>
              <a:t>RAG multimodal en médecine</a:t>
            </a:r>
            <a:endParaRPr lang="en-US" sz="4000" dirty="0"/>
          </a:p>
        </p:txBody>
      </p:sp>
      <p:sp>
        <p:nvSpPr>
          <p:cNvPr id="5" name="Sous-titre"/>
          <p:cNvSpPr txBox="1"/>
          <p:nvPr/>
        </p:nvSpPr>
        <p:spPr>
          <a:xfrm>
            <a:off x="548640" y="2606040"/>
            <a:ext cx="7498080" cy="822960"/>
          </a:xfrm>
          <a:prstGeom prst="rect">
            <a:avLst/>
          </a:prstGeom>
          <a:noFill/>
          <a:ln/>
        </p:spPr>
        <p:txBody>
          <a:bodyPr wrap="square" lIns="0" tIns="0" rIns="0" bIns="0" rtlCol="0" anchor="t"/>
          <a:lstStyle/>
          <a:p>
            <a:pPr marL="0" indent="0">
              <a:buNone/>
            </a:pPr>
            <a:r>
              <a:rPr lang="en-US" sz="2200" dirty="0">
                <a:solidFill>
                  <a:schemeClr val="bg2"/>
                </a:solidFill>
              </a:rPr>
              <a:t>Générer des comptes rendus de radiologie à partir d’images</a:t>
            </a:r>
            <a:endParaRPr lang="en-US" sz="2200" dirty="0"/>
          </a:p>
        </p:txBody>
      </p:sp>
      <p:sp>
        <p:nvSpPr>
          <p:cNvPr id="6" name="Auteur"/>
          <p:cNvSpPr txBox="1"/>
          <p:nvPr/>
        </p:nvSpPr>
        <p:spPr>
          <a:xfrm>
            <a:off x="548640" y="4114800"/>
            <a:ext cx="8046720" cy="365760"/>
          </a:xfrm>
          <a:prstGeom prst="rect">
            <a:avLst/>
          </a:prstGeom>
          <a:noFill/>
          <a:ln/>
        </p:spPr>
        <p:txBody>
          <a:bodyPr wrap="square" lIns="0" tIns="0" rIns="0" bIns="0" rtlCol="0" anchor="ctr"/>
          <a:lstStyle/>
          <a:p>
            <a:r>
              <a:rPr lang="en-US" sz="1400" dirty="0">
                <a:solidFill>
                  <a:schemeClr val="bg2"/>
                </a:solidFill>
              </a:rPr>
              <a:t>AHEBIE ATCHE M.  ·  Computer Vision  ·  </a:t>
            </a:r>
            <a:r>
              <a:rPr lang="en-US" sz="1400" dirty="0" err="1">
                <a:solidFill>
                  <a:schemeClr val="bg2"/>
                </a:solidFill>
              </a:rPr>
              <a:t>Mr</a:t>
            </a:r>
            <a:r>
              <a:rPr lang="en-US" sz="1400" dirty="0">
                <a:solidFill>
                  <a:schemeClr val="bg2"/>
                </a:solidFill>
              </a:rPr>
              <a:t> BELAID SAMIR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Sommaire</a:t>
            </a:r>
            <a:endParaRPr lang="en-US" sz="3000" dirty="0"/>
          </a:p>
        </p:txBody>
      </p:sp>
      <p:sp>
        <p:nvSpPr>
          <p:cNvPr id="3" name="Ligne 1"/>
          <p:cNvSpPr/>
          <p:nvPr/>
        </p:nvSpPr>
        <p:spPr>
          <a:xfrm>
            <a:off x="548640" y="1188720"/>
            <a:ext cx="8046720" cy="420624"/>
          </a:xfrm>
          <a:prstGeom prst="roundRect">
            <a:avLst>
              <a:gd name="adj" fmla="val 21739"/>
            </a:avLst>
          </a:prstGeom>
          <a:solidFill>
            <a:schemeClr val="bg2"/>
          </a:solidFill>
          <a:ln/>
        </p:spPr>
        <p:txBody>
          <a:bodyPr/>
          <a:lstStyle/>
          <a:p>
            <a:endParaRPr lang="fr-FR"/>
          </a:p>
        </p:txBody>
      </p:sp>
      <p:sp>
        <p:nvSpPr>
          <p:cNvPr id="4" name="Pastille 1"/>
          <p:cNvSpPr/>
          <p:nvPr/>
        </p:nvSpPr>
        <p:spPr>
          <a:xfrm>
            <a:off x="658368" y="1234440"/>
            <a:ext cx="329184" cy="329184"/>
          </a:xfrm>
          <a:prstGeom prst="ellipse">
            <a:avLst/>
          </a:prstGeom>
          <a:solidFill>
            <a:schemeClr val="accent1"/>
          </a:solidFill>
          <a:ln/>
        </p:spPr>
        <p:txBody>
          <a:bodyPr/>
          <a:lstStyle/>
          <a:p>
            <a:endParaRPr lang="fr-FR"/>
          </a:p>
        </p:txBody>
      </p:sp>
      <p:sp>
        <p:nvSpPr>
          <p:cNvPr id="5" name="Numéro 1"/>
          <p:cNvSpPr txBox="1"/>
          <p:nvPr/>
        </p:nvSpPr>
        <p:spPr>
          <a:xfrm>
            <a:off x="658368" y="123444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Section 1"/>
          <p:cNvSpPr txBox="1"/>
          <p:nvPr/>
        </p:nvSpPr>
        <p:spPr>
          <a:xfrm>
            <a:off x="1188720" y="118872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Le RAG : problème, solution, architecture</a:t>
            </a:r>
            <a:endParaRPr lang="en-US" sz="1700" dirty="0"/>
          </a:p>
        </p:txBody>
      </p:sp>
      <p:sp>
        <p:nvSpPr>
          <p:cNvPr id="7" name="Durée 1"/>
          <p:cNvSpPr txBox="1"/>
          <p:nvPr/>
        </p:nvSpPr>
        <p:spPr>
          <a:xfrm>
            <a:off x="6766560" y="118872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 2,5 min</a:t>
            </a:r>
            <a:endParaRPr lang="en-US" sz="1400" dirty="0"/>
          </a:p>
        </p:txBody>
      </p:sp>
      <p:sp>
        <p:nvSpPr>
          <p:cNvPr id="8" name="Ligne 2"/>
          <p:cNvSpPr/>
          <p:nvPr/>
        </p:nvSpPr>
        <p:spPr>
          <a:xfrm>
            <a:off x="548640" y="1691640"/>
            <a:ext cx="8046720" cy="420624"/>
          </a:xfrm>
          <a:prstGeom prst="roundRect">
            <a:avLst>
              <a:gd name="adj" fmla="val 21739"/>
            </a:avLst>
          </a:prstGeom>
          <a:solidFill>
            <a:schemeClr val="bg2"/>
          </a:solidFill>
          <a:ln/>
        </p:spPr>
        <p:txBody>
          <a:bodyPr/>
          <a:lstStyle/>
          <a:p>
            <a:endParaRPr lang="fr-FR"/>
          </a:p>
        </p:txBody>
      </p:sp>
      <p:sp>
        <p:nvSpPr>
          <p:cNvPr id="9" name="Pastille 2"/>
          <p:cNvSpPr/>
          <p:nvPr/>
        </p:nvSpPr>
        <p:spPr>
          <a:xfrm>
            <a:off x="658368" y="1737360"/>
            <a:ext cx="329184" cy="329184"/>
          </a:xfrm>
          <a:prstGeom prst="ellipse">
            <a:avLst/>
          </a:prstGeom>
          <a:solidFill>
            <a:schemeClr val="accent1"/>
          </a:solidFill>
          <a:ln/>
        </p:spPr>
        <p:txBody>
          <a:bodyPr/>
          <a:lstStyle/>
          <a:p>
            <a:endParaRPr lang="fr-FR"/>
          </a:p>
        </p:txBody>
      </p:sp>
      <p:sp>
        <p:nvSpPr>
          <p:cNvPr id="10" name="Numéro 2"/>
          <p:cNvSpPr txBox="1"/>
          <p:nvPr/>
        </p:nvSpPr>
        <p:spPr>
          <a:xfrm>
            <a:off x="658368" y="173736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Section 2"/>
          <p:cNvSpPr txBox="1"/>
          <p:nvPr/>
        </p:nvSpPr>
        <p:spPr>
          <a:xfrm>
            <a:off x="1188720" y="169164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Le RAG multimodal sous plusieurs angles</a:t>
            </a:r>
            <a:endParaRPr lang="en-US" sz="1700" dirty="0"/>
          </a:p>
        </p:txBody>
      </p:sp>
      <p:sp>
        <p:nvSpPr>
          <p:cNvPr id="12" name="Durée 2"/>
          <p:cNvSpPr txBox="1"/>
          <p:nvPr/>
        </p:nvSpPr>
        <p:spPr>
          <a:xfrm>
            <a:off x="6766560" y="169164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 2 min</a:t>
            </a:r>
            <a:endParaRPr lang="en-US" sz="1400" dirty="0"/>
          </a:p>
        </p:txBody>
      </p:sp>
      <p:sp>
        <p:nvSpPr>
          <p:cNvPr id="13" name="Ligne 3"/>
          <p:cNvSpPr/>
          <p:nvPr/>
        </p:nvSpPr>
        <p:spPr>
          <a:xfrm>
            <a:off x="548640" y="2194560"/>
            <a:ext cx="8046720" cy="420624"/>
          </a:xfrm>
          <a:prstGeom prst="roundRect">
            <a:avLst>
              <a:gd name="adj" fmla="val 21739"/>
            </a:avLst>
          </a:prstGeom>
          <a:solidFill>
            <a:schemeClr val="bg2"/>
          </a:solidFill>
          <a:ln/>
        </p:spPr>
        <p:txBody>
          <a:bodyPr/>
          <a:lstStyle/>
          <a:p>
            <a:endParaRPr lang="fr-FR"/>
          </a:p>
        </p:txBody>
      </p:sp>
      <p:sp>
        <p:nvSpPr>
          <p:cNvPr id="14" name="Pastille 3"/>
          <p:cNvSpPr/>
          <p:nvPr/>
        </p:nvSpPr>
        <p:spPr>
          <a:xfrm>
            <a:off x="658368" y="2240280"/>
            <a:ext cx="329184" cy="329184"/>
          </a:xfrm>
          <a:prstGeom prst="ellipse">
            <a:avLst/>
          </a:prstGeom>
          <a:solidFill>
            <a:schemeClr val="accent1"/>
          </a:solidFill>
          <a:ln/>
        </p:spPr>
        <p:txBody>
          <a:bodyPr/>
          <a:lstStyle/>
          <a:p>
            <a:endParaRPr lang="fr-FR"/>
          </a:p>
        </p:txBody>
      </p:sp>
      <p:sp>
        <p:nvSpPr>
          <p:cNvPr id="15" name="Numéro 3"/>
          <p:cNvSpPr txBox="1"/>
          <p:nvPr/>
        </p:nvSpPr>
        <p:spPr>
          <a:xfrm>
            <a:off x="658368" y="224028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Section 3"/>
          <p:cNvSpPr txBox="1"/>
          <p:nvPr/>
        </p:nvSpPr>
        <p:spPr>
          <a:xfrm>
            <a:off x="1188720" y="219456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Exemple visuel : ColPali</a:t>
            </a:r>
            <a:endParaRPr lang="en-US" sz="1700" dirty="0"/>
          </a:p>
        </p:txBody>
      </p:sp>
      <p:sp>
        <p:nvSpPr>
          <p:cNvPr id="17" name="Durée 3"/>
          <p:cNvSpPr txBox="1"/>
          <p:nvPr/>
        </p:nvSpPr>
        <p:spPr>
          <a:xfrm>
            <a:off x="6766560" y="219456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 1,5 min</a:t>
            </a:r>
            <a:endParaRPr lang="en-US" sz="1400" dirty="0"/>
          </a:p>
        </p:txBody>
      </p:sp>
      <p:sp>
        <p:nvSpPr>
          <p:cNvPr id="18" name="Ligne 4"/>
          <p:cNvSpPr/>
          <p:nvPr/>
        </p:nvSpPr>
        <p:spPr>
          <a:xfrm>
            <a:off x="548640" y="2697480"/>
            <a:ext cx="8046720" cy="420624"/>
          </a:xfrm>
          <a:prstGeom prst="roundRect">
            <a:avLst>
              <a:gd name="adj" fmla="val 21739"/>
            </a:avLst>
          </a:prstGeom>
          <a:solidFill>
            <a:schemeClr val="bg2"/>
          </a:solidFill>
          <a:ln/>
        </p:spPr>
        <p:txBody>
          <a:bodyPr/>
          <a:lstStyle/>
          <a:p>
            <a:endParaRPr lang="fr-FR"/>
          </a:p>
        </p:txBody>
      </p:sp>
      <p:sp>
        <p:nvSpPr>
          <p:cNvPr id="19" name="Pastille 4"/>
          <p:cNvSpPr/>
          <p:nvPr/>
        </p:nvSpPr>
        <p:spPr>
          <a:xfrm>
            <a:off x="658368" y="2743200"/>
            <a:ext cx="329184" cy="329184"/>
          </a:xfrm>
          <a:prstGeom prst="ellipse">
            <a:avLst/>
          </a:prstGeom>
          <a:solidFill>
            <a:schemeClr val="accent1"/>
          </a:solidFill>
          <a:ln/>
        </p:spPr>
        <p:txBody>
          <a:bodyPr/>
          <a:lstStyle/>
          <a:p>
            <a:endParaRPr lang="fr-FR"/>
          </a:p>
        </p:txBody>
      </p:sp>
      <p:sp>
        <p:nvSpPr>
          <p:cNvPr id="20" name="Numéro 4"/>
          <p:cNvSpPr txBox="1"/>
          <p:nvPr/>
        </p:nvSpPr>
        <p:spPr>
          <a:xfrm>
            <a:off x="658368" y="274320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Section 4"/>
          <p:cNvSpPr txBox="1"/>
          <p:nvPr/>
        </p:nvSpPr>
        <p:spPr>
          <a:xfrm>
            <a:off x="1188720" y="269748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Cas médical : CXR-RePaiR-Gen</a:t>
            </a:r>
            <a:endParaRPr lang="en-US" sz="1700" dirty="0"/>
          </a:p>
        </p:txBody>
      </p:sp>
      <p:sp>
        <p:nvSpPr>
          <p:cNvPr id="22" name="Durée 4"/>
          <p:cNvSpPr txBox="1"/>
          <p:nvPr/>
        </p:nvSpPr>
        <p:spPr>
          <a:xfrm>
            <a:off x="6766560" y="269748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 2 min</a:t>
            </a:r>
            <a:endParaRPr lang="en-US" sz="1400" dirty="0"/>
          </a:p>
        </p:txBody>
      </p:sp>
      <p:sp>
        <p:nvSpPr>
          <p:cNvPr id="23" name="Ligne 5"/>
          <p:cNvSpPr/>
          <p:nvPr/>
        </p:nvSpPr>
        <p:spPr>
          <a:xfrm>
            <a:off x="548640" y="3200400"/>
            <a:ext cx="8046720" cy="420624"/>
          </a:xfrm>
          <a:prstGeom prst="roundRect">
            <a:avLst>
              <a:gd name="adj" fmla="val 21739"/>
            </a:avLst>
          </a:prstGeom>
          <a:solidFill>
            <a:schemeClr val="bg2"/>
          </a:solidFill>
          <a:ln/>
        </p:spPr>
        <p:txBody>
          <a:bodyPr/>
          <a:lstStyle/>
          <a:p>
            <a:endParaRPr lang="fr-FR"/>
          </a:p>
        </p:txBody>
      </p:sp>
      <p:sp>
        <p:nvSpPr>
          <p:cNvPr id="24" name="Pastille 5"/>
          <p:cNvSpPr/>
          <p:nvPr/>
        </p:nvSpPr>
        <p:spPr>
          <a:xfrm>
            <a:off x="658368" y="3246120"/>
            <a:ext cx="329184" cy="329184"/>
          </a:xfrm>
          <a:prstGeom prst="ellipse">
            <a:avLst/>
          </a:prstGeom>
          <a:solidFill>
            <a:schemeClr val="accent1"/>
          </a:solidFill>
          <a:ln/>
        </p:spPr>
        <p:txBody>
          <a:bodyPr/>
          <a:lstStyle/>
          <a:p>
            <a:endParaRPr lang="fr-FR"/>
          </a:p>
        </p:txBody>
      </p:sp>
      <p:sp>
        <p:nvSpPr>
          <p:cNvPr id="25" name="Numéro 5"/>
          <p:cNvSpPr txBox="1"/>
          <p:nvPr/>
        </p:nvSpPr>
        <p:spPr>
          <a:xfrm>
            <a:off x="658368" y="324612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6" name="Section 5"/>
          <p:cNvSpPr txBox="1"/>
          <p:nvPr/>
        </p:nvSpPr>
        <p:spPr>
          <a:xfrm>
            <a:off x="1188720" y="320040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Analyse critique et enjeux éthiques</a:t>
            </a:r>
            <a:endParaRPr lang="en-US" sz="1700" dirty="0"/>
          </a:p>
        </p:txBody>
      </p:sp>
      <p:sp>
        <p:nvSpPr>
          <p:cNvPr id="27" name="Durée 5"/>
          <p:cNvSpPr txBox="1"/>
          <p:nvPr/>
        </p:nvSpPr>
        <p:spPr>
          <a:xfrm>
            <a:off x="6766560" y="320040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 1,5 min</a:t>
            </a:r>
            <a:endParaRPr lang="en-US" sz="1400" dirty="0"/>
          </a:p>
        </p:txBody>
      </p:sp>
      <p:sp>
        <p:nvSpPr>
          <p:cNvPr id="28" name="Ligne 6"/>
          <p:cNvSpPr/>
          <p:nvPr/>
        </p:nvSpPr>
        <p:spPr>
          <a:xfrm>
            <a:off x="548640" y="3703320"/>
            <a:ext cx="8046720" cy="420624"/>
          </a:xfrm>
          <a:prstGeom prst="roundRect">
            <a:avLst>
              <a:gd name="adj" fmla="val 21739"/>
            </a:avLst>
          </a:prstGeom>
          <a:solidFill>
            <a:schemeClr val="bg2"/>
          </a:solidFill>
          <a:ln/>
        </p:spPr>
        <p:txBody>
          <a:bodyPr/>
          <a:lstStyle/>
          <a:p>
            <a:endParaRPr lang="fr-FR"/>
          </a:p>
        </p:txBody>
      </p:sp>
      <p:sp>
        <p:nvSpPr>
          <p:cNvPr id="29" name="Pastille 6"/>
          <p:cNvSpPr/>
          <p:nvPr/>
        </p:nvSpPr>
        <p:spPr>
          <a:xfrm>
            <a:off x="658368" y="3749040"/>
            <a:ext cx="329184" cy="329184"/>
          </a:xfrm>
          <a:prstGeom prst="ellipse">
            <a:avLst/>
          </a:prstGeom>
          <a:solidFill>
            <a:schemeClr val="accent1"/>
          </a:solidFill>
          <a:ln/>
        </p:spPr>
        <p:txBody>
          <a:bodyPr/>
          <a:lstStyle/>
          <a:p>
            <a:endParaRPr lang="fr-FR"/>
          </a:p>
        </p:txBody>
      </p:sp>
      <p:sp>
        <p:nvSpPr>
          <p:cNvPr id="30" name="Numéro 6"/>
          <p:cNvSpPr txBox="1"/>
          <p:nvPr/>
        </p:nvSpPr>
        <p:spPr>
          <a:xfrm>
            <a:off x="658368" y="374904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1" name="Section 6"/>
          <p:cNvSpPr txBox="1"/>
          <p:nvPr/>
        </p:nvSpPr>
        <p:spPr>
          <a:xfrm>
            <a:off x="1188720" y="370332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Conclusion</a:t>
            </a:r>
            <a:endParaRPr lang="en-US" sz="1700" dirty="0"/>
          </a:p>
        </p:txBody>
      </p:sp>
      <p:sp>
        <p:nvSpPr>
          <p:cNvPr id="32" name="Durée 6"/>
          <p:cNvSpPr txBox="1"/>
          <p:nvPr/>
        </p:nvSpPr>
        <p:spPr>
          <a:xfrm>
            <a:off x="6766560" y="370332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 30 s</a:t>
            </a:r>
            <a:endParaRPr lang="en-US" sz="1400" dirty="0"/>
          </a:p>
        </p:txBody>
      </p:sp>
      <p:sp>
        <p:nvSpPr>
          <p:cNvPr id="33" name="Ligne 7"/>
          <p:cNvSpPr/>
          <p:nvPr/>
        </p:nvSpPr>
        <p:spPr>
          <a:xfrm>
            <a:off x="548640" y="4206240"/>
            <a:ext cx="8046720" cy="420624"/>
          </a:xfrm>
          <a:prstGeom prst="roundRect">
            <a:avLst>
              <a:gd name="adj" fmla="val 21739"/>
            </a:avLst>
          </a:prstGeom>
          <a:solidFill>
            <a:schemeClr val="bg2"/>
          </a:solidFill>
          <a:ln/>
        </p:spPr>
        <p:txBody>
          <a:bodyPr/>
          <a:lstStyle/>
          <a:p>
            <a:endParaRPr lang="fr-FR"/>
          </a:p>
        </p:txBody>
      </p:sp>
      <p:sp>
        <p:nvSpPr>
          <p:cNvPr id="34" name="Pastille 7"/>
          <p:cNvSpPr/>
          <p:nvPr/>
        </p:nvSpPr>
        <p:spPr>
          <a:xfrm>
            <a:off x="658368" y="4251960"/>
            <a:ext cx="329184" cy="329184"/>
          </a:xfrm>
          <a:prstGeom prst="ellipse">
            <a:avLst/>
          </a:prstGeom>
          <a:solidFill>
            <a:schemeClr val="accent4"/>
          </a:solidFill>
          <a:ln/>
        </p:spPr>
        <p:txBody>
          <a:bodyPr/>
          <a:lstStyle/>
          <a:p>
            <a:endParaRPr lang="fr-FR"/>
          </a:p>
        </p:txBody>
      </p:sp>
      <p:sp>
        <p:nvSpPr>
          <p:cNvPr id="35" name="Numéro 7"/>
          <p:cNvSpPr txBox="1"/>
          <p:nvPr/>
        </p:nvSpPr>
        <p:spPr>
          <a:xfrm>
            <a:off x="658368" y="425196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36" name="Section 7"/>
          <p:cNvSpPr txBox="1"/>
          <p:nvPr/>
        </p:nvSpPr>
        <p:spPr>
          <a:xfrm>
            <a:off x="1188720" y="4206240"/>
            <a:ext cx="5486400" cy="420624"/>
          </a:xfrm>
          <a:prstGeom prst="rect">
            <a:avLst/>
          </a:prstGeom>
          <a:noFill/>
          <a:ln/>
        </p:spPr>
        <p:txBody>
          <a:bodyPr wrap="square" lIns="0" tIns="0" rIns="0" bIns="0" rtlCol="0" anchor="ctr"/>
          <a:lstStyle/>
          <a:p>
            <a:pPr marL="0" indent="0">
              <a:buNone/>
            </a:pPr>
            <a:r>
              <a:rPr lang="en-US" sz="1700" b="1" dirty="0">
                <a:solidFill>
                  <a:schemeClr val="tx2"/>
                </a:solidFill>
              </a:rPr>
              <a:t>Annexes : composants et formules</a:t>
            </a:r>
            <a:endParaRPr lang="en-US" sz="1700" dirty="0"/>
          </a:p>
        </p:txBody>
      </p:sp>
      <p:sp>
        <p:nvSpPr>
          <p:cNvPr id="37" name="Durée 7"/>
          <p:cNvSpPr txBox="1"/>
          <p:nvPr/>
        </p:nvSpPr>
        <p:spPr>
          <a:xfrm>
            <a:off x="6766560" y="4206240"/>
            <a:ext cx="1645920" cy="420624"/>
          </a:xfrm>
          <a:prstGeom prst="rect">
            <a:avLst/>
          </a:prstGeom>
          <a:noFill/>
          <a:ln/>
        </p:spPr>
        <p:txBody>
          <a:bodyPr wrap="square" lIns="0" tIns="0" rIns="0" bIns="0" rtlCol="0" anchor="ctr"/>
          <a:lstStyle/>
          <a:p>
            <a:pPr marL="0" indent="0" algn="r">
              <a:buNone/>
            </a:pPr>
            <a:r>
              <a:rPr lang="en-US" sz="1400" dirty="0">
                <a:solidFill>
                  <a:schemeClr val="tx1"/>
                </a:solidFill>
              </a:rPr>
              <a:t>hors temps</a:t>
            </a:r>
            <a:endParaRPr lang="en-US" sz="1400" dirty="0"/>
          </a:p>
        </p:txBody>
      </p:sp>
      <p:sp>
        <p:nvSpPr>
          <p:cNvPr id="38"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Le problème : un LLM seul ne suffit pas</a:t>
            </a:r>
            <a:endParaRPr lang="en-US" sz="3000" dirty="0"/>
          </a:p>
        </p:txBody>
      </p:sp>
      <p:sp>
        <p:nvSpPr>
          <p:cNvPr id="3" name="Bulle question"/>
          <p:cNvSpPr/>
          <p:nvPr/>
        </p:nvSpPr>
        <p:spPr>
          <a:xfrm>
            <a:off x="914400" y="1280160"/>
            <a:ext cx="4114800" cy="914400"/>
          </a:xfrm>
          <a:prstGeom prst="roundRect">
            <a:avLst>
              <a:gd name="adj" fmla="val 15000"/>
            </a:avLst>
          </a:prstGeom>
          <a:solidFill>
            <a:schemeClr val="accent1"/>
          </a:solidFill>
          <a:ln/>
        </p:spPr>
        <p:txBody>
          <a:bodyPr/>
          <a:lstStyle/>
          <a:p>
            <a:endParaRPr lang="fr-FR"/>
          </a:p>
        </p:txBody>
      </p:sp>
      <p:sp>
        <p:nvSpPr>
          <p:cNvPr id="4" name="Texte question"/>
          <p:cNvSpPr txBox="1"/>
          <p:nvPr/>
        </p:nvSpPr>
        <p:spPr>
          <a:xfrm>
            <a:off x="1051560" y="1280160"/>
            <a:ext cx="3840480" cy="914400"/>
          </a:xfrm>
          <a:prstGeom prst="rect">
            <a:avLst/>
          </a:prstGeom>
          <a:noFill/>
          <a:ln/>
        </p:spPr>
        <p:txBody>
          <a:bodyPr wrap="square" lIns="0" tIns="0" rIns="0" bIns="0" rtlCol="0" anchor="ctr"/>
          <a:lstStyle/>
          <a:p>
            <a:pPr marL="0" indent="0">
              <a:buNone/>
            </a:pPr>
            <a:r>
              <a:rPr lang="en-US" sz="1400" b="1" dirty="0">
                <a:solidFill>
                  <a:schemeClr val="bg1"/>
                </a:solidFill>
              </a:rPr>
              <a:t>Médecin : </a:t>
            </a:r>
            <a:r>
              <a:rPr lang="en-US" sz="1400" dirty="0">
                <a:solidFill>
                  <a:schemeClr val="bg1"/>
                </a:solidFill>
              </a:rPr>
              <a:t>« Quelles sont les recommandations actuelles pour le suivi d’un nodule pulmonaire de 6 mm ? »</a:t>
            </a:r>
            <a:endParaRPr lang="en-US" sz="1400" dirty="0"/>
          </a:p>
        </p:txBody>
      </p:sp>
      <p:sp>
        <p:nvSpPr>
          <p:cNvPr id="5" name="Bulle réponse"/>
          <p:cNvSpPr/>
          <p:nvPr/>
        </p:nvSpPr>
        <p:spPr>
          <a:xfrm>
            <a:off x="548640" y="2331720"/>
            <a:ext cx="4480560" cy="1143000"/>
          </a:xfrm>
          <a:prstGeom prst="roundRect">
            <a:avLst>
              <a:gd name="adj" fmla="val 12000"/>
            </a:avLst>
          </a:prstGeom>
          <a:solidFill>
            <a:schemeClr val="bg2"/>
          </a:solidFill>
          <a:ln w="19050">
            <a:solidFill>
              <a:schemeClr val="accent2"/>
            </a:solidFill>
            <a:prstDash val="solid"/>
          </a:ln>
        </p:spPr>
        <p:txBody>
          <a:bodyPr/>
          <a:lstStyle/>
          <a:p>
            <a:endParaRPr lang="fr-FR"/>
          </a:p>
        </p:txBody>
      </p:sp>
      <p:sp>
        <p:nvSpPr>
          <p:cNvPr id="6" name="Texte réponse"/>
          <p:cNvSpPr txBox="1"/>
          <p:nvPr/>
        </p:nvSpPr>
        <p:spPr>
          <a:xfrm>
            <a:off x="731520" y="2331720"/>
            <a:ext cx="4114800" cy="1143000"/>
          </a:xfrm>
          <a:prstGeom prst="rect">
            <a:avLst/>
          </a:prstGeom>
          <a:noFill/>
          <a:ln/>
        </p:spPr>
        <p:txBody>
          <a:bodyPr wrap="square" lIns="0" tIns="0" rIns="0" bIns="0" rtlCol="0" anchor="ctr"/>
          <a:lstStyle/>
          <a:p>
            <a:pPr marL="0" indent="0">
              <a:buNone/>
            </a:pPr>
            <a:r>
              <a:rPr lang="en-US" sz="1400" b="1" dirty="0">
                <a:solidFill>
                  <a:schemeClr val="accent2"/>
                </a:solidFill>
              </a:rPr>
              <a:t>LLM seul : </a:t>
            </a:r>
            <a:r>
              <a:rPr lang="en-US" sz="1400" dirty="0">
                <a:solidFill>
                  <a:schemeClr val="tx1"/>
                </a:solidFill>
              </a:rPr>
              <a:t>une réponse fluide et assurée… mais fondée sur d’anciennes recommandations, avec une référence inventée et aucune source.</a:t>
            </a:r>
            <a:endParaRPr lang="en-US" sz="1400" dirty="0"/>
          </a:p>
        </p:txBody>
      </p:sp>
      <p:sp>
        <p:nvSpPr>
          <p:cNvPr id="7" name="Mention scénario"/>
          <p:cNvSpPr txBox="1"/>
          <p:nvPr/>
        </p:nvSpPr>
        <p:spPr>
          <a:xfrm>
            <a:off x="548640" y="3547872"/>
            <a:ext cx="4754880" cy="365760"/>
          </a:xfrm>
          <a:prstGeom prst="rect">
            <a:avLst/>
          </a:prstGeom>
          <a:noFill/>
          <a:ln/>
        </p:spPr>
        <p:txBody>
          <a:bodyPr wrap="square" lIns="0" tIns="0" rIns="0" bIns="0" rtlCol="0" anchor="ctr"/>
          <a:lstStyle/>
          <a:p>
            <a:pPr marL="0" indent="0">
              <a:buNone/>
            </a:pPr>
            <a:r>
              <a:rPr lang="en-US" sz="1100" i="1" dirty="0">
                <a:solidFill>
                  <a:schemeClr val="tx2"/>
                </a:solidFill>
              </a:rPr>
              <a:t>Scénario illustratif (même logique que Gao et al., 2023, fig. 2)</a:t>
            </a:r>
            <a:endParaRPr lang="en-US" sz="1100" dirty="0"/>
          </a:p>
        </p:txBody>
      </p:sp>
      <p:sp>
        <p:nvSpPr>
          <p:cNvPr id="8" name="Carte problème 1"/>
          <p:cNvSpPr/>
          <p:nvPr/>
        </p:nvSpPr>
        <p:spPr>
          <a:xfrm>
            <a:off x="5394960" y="1280160"/>
            <a:ext cx="3200400" cy="822960"/>
          </a:xfrm>
          <a:prstGeom prst="roundRect">
            <a:avLst>
              <a:gd name="adj" fmla="val 11111"/>
            </a:avLst>
          </a:prstGeom>
          <a:solidFill>
            <a:schemeClr val="bg2"/>
          </a:solidFill>
          <a:ln/>
        </p:spPr>
        <p:txBody>
          <a:bodyPr/>
          <a:lstStyle/>
          <a:p>
            <a:endParaRPr lang="fr-FR"/>
          </a:p>
        </p:txBody>
      </p:sp>
      <p:sp>
        <p:nvSpPr>
          <p:cNvPr id="9" name="Icône problème 1 fond"/>
          <p:cNvSpPr/>
          <p:nvPr/>
        </p:nvSpPr>
        <p:spPr>
          <a:xfrm>
            <a:off x="5532120" y="1463040"/>
            <a:ext cx="457200" cy="457200"/>
          </a:xfrm>
          <a:prstGeom prst="ellipse">
            <a:avLst/>
          </a:prstGeom>
          <a:solidFill>
            <a:schemeClr val="accent2"/>
          </a:solidFill>
          <a:ln/>
        </p:spPr>
        <p:txBody>
          <a:bodyPr/>
          <a:lstStyle/>
          <a:p>
            <a:endParaRPr lang="fr-FR"/>
          </a:p>
        </p:txBody>
      </p:sp>
      <p:pic>
        <p:nvPicPr>
          <p:cNvPr id="10" name="Icône problème 1" descr="Icône problème 1"/>
          <p:cNvPicPr>
            <a:picLocks noChangeAspect="1"/>
          </p:cNvPicPr>
          <p:nvPr/>
        </p:nvPicPr>
        <p:blipFill>
          <a:blip r:embed="rId3"/>
          <a:stretch>
            <a:fillRect/>
          </a:stretch>
        </p:blipFill>
        <p:spPr>
          <a:xfrm>
            <a:off x="5646420" y="1577340"/>
            <a:ext cx="228600" cy="228600"/>
          </a:xfrm>
          <a:prstGeom prst="rect">
            <a:avLst/>
          </a:prstGeom>
        </p:spPr>
      </p:pic>
      <p:sp>
        <p:nvSpPr>
          <p:cNvPr id="11" name="Titre problème 1"/>
          <p:cNvSpPr txBox="1"/>
          <p:nvPr/>
        </p:nvSpPr>
        <p:spPr>
          <a:xfrm>
            <a:off x="6126480" y="1344168"/>
            <a:ext cx="2377440" cy="274320"/>
          </a:xfrm>
          <a:prstGeom prst="rect">
            <a:avLst/>
          </a:prstGeom>
          <a:noFill/>
          <a:ln/>
        </p:spPr>
        <p:txBody>
          <a:bodyPr wrap="square" lIns="0" tIns="0" rIns="0" bIns="0" rtlCol="0" anchor="ctr"/>
          <a:lstStyle/>
          <a:p>
            <a:pPr marL="0" indent="0">
              <a:buNone/>
            </a:pPr>
            <a:r>
              <a:rPr lang="en-US" sz="1400" b="1" dirty="0">
                <a:solidFill>
                  <a:schemeClr val="tx2"/>
                </a:solidFill>
              </a:rPr>
              <a:t>Connaissances figées</a:t>
            </a:r>
            <a:endParaRPr lang="en-US" sz="1400" dirty="0"/>
          </a:p>
        </p:txBody>
      </p:sp>
      <p:sp>
        <p:nvSpPr>
          <p:cNvPr id="12" name="Texte problème 1"/>
          <p:cNvSpPr txBox="1"/>
          <p:nvPr/>
        </p:nvSpPr>
        <p:spPr>
          <a:xfrm>
            <a:off x="6126480" y="1627632"/>
            <a:ext cx="2377440" cy="457200"/>
          </a:xfrm>
          <a:prstGeom prst="rect">
            <a:avLst/>
          </a:prstGeom>
          <a:noFill/>
          <a:ln/>
        </p:spPr>
        <p:txBody>
          <a:bodyPr wrap="square" lIns="0" tIns="0" rIns="0" bIns="0" rtlCol="0" anchor="t"/>
          <a:lstStyle/>
          <a:p>
            <a:pPr marL="0" indent="0">
              <a:buNone/>
            </a:pPr>
            <a:r>
              <a:rPr lang="en-US" sz="1400" dirty="0">
                <a:solidFill>
                  <a:schemeClr val="tx1"/>
                </a:solidFill>
              </a:rPr>
              <a:t>Arrêtées à la date d’entraînement</a:t>
            </a:r>
            <a:endParaRPr lang="en-US" sz="1400" dirty="0"/>
          </a:p>
        </p:txBody>
      </p:sp>
      <p:sp>
        <p:nvSpPr>
          <p:cNvPr id="13" name="Carte problème 2"/>
          <p:cNvSpPr/>
          <p:nvPr/>
        </p:nvSpPr>
        <p:spPr>
          <a:xfrm>
            <a:off x="5394960" y="2176272"/>
            <a:ext cx="3200400" cy="822960"/>
          </a:xfrm>
          <a:prstGeom prst="roundRect">
            <a:avLst>
              <a:gd name="adj" fmla="val 11111"/>
            </a:avLst>
          </a:prstGeom>
          <a:solidFill>
            <a:schemeClr val="bg2"/>
          </a:solidFill>
          <a:ln/>
        </p:spPr>
        <p:txBody>
          <a:bodyPr/>
          <a:lstStyle/>
          <a:p>
            <a:endParaRPr lang="fr-FR"/>
          </a:p>
        </p:txBody>
      </p:sp>
      <p:sp>
        <p:nvSpPr>
          <p:cNvPr id="14" name="Icône problème 2 fond"/>
          <p:cNvSpPr/>
          <p:nvPr/>
        </p:nvSpPr>
        <p:spPr>
          <a:xfrm>
            <a:off x="5532120" y="2359152"/>
            <a:ext cx="457200" cy="457200"/>
          </a:xfrm>
          <a:prstGeom prst="ellipse">
            <a:avLst/>
          </a:prstGeom>
          <a:solidFill>
            <a:schemeClr val="accent2"/>
          </a:solidFill>
          <a:ln/>
        </p:spPr>
        <p:txBody>
          <a:bodyPr/>
          <a:lstStyle/>
          <a:p>
            <a:endParaRPr lang="fr-FR"/>
          </a:p>
        </p:txBody>
      </p:sp>
      <p:pic>
        <p:nvPicPr>
          <p:cNvPr id="15" name="Icône problème 2" descr="Icône problème 2"/>
          <p:cNvPicPr>
            <a:picLocks noChangeAspect="1"/>
          </p:cNvPicPr>
          <p:nvPr/>
        </p:nvPicPr>
        <p:blipFill>
          <a:blip r:embed="rId4"/>
          <a:stretch>
            <a:fillRect/>
          </a:stretch>
        </p:blipFill>
        <p:spPr>
          <a:xfrm>
            <a:off x="5646420" y="2473452"/>
            <a:ext cx="228600" cy="228600"/>
          </a:xfrm>
          <a:prstGeom prst="rect">
            <a:avLst/>
          </a:prstGeom>
        </p:spPr>
      </p:pic>
      <p:sp>
        <p:nvSpPr>
          <p:cNvPr id="16" name="Titre problème 2"/>
          <p:cNvSpPr txBox="1"/>
          <p:nvPr/>
        </p:nvSpPr>
        <p:spPr>
          <a:xfrm>
            <a:off x="6126480" y="2240280"/>
            <a:ext cx="2377440" cy="274320"/>
          </a:xfrm>
          <a:prstGeom prst="rect">
            <a:avLst/>
          </a:prstGeom>
          <a:noFill/>
          <a:ln/>
        </p:spPr>
        <p:txBody>
          <a:bodyPr wrap="square" lIns="0" tIns="0" rIns="0" bIns="0" rtlCol="0" anchor="ctr"/>
          <a:lstStyle/>
          <a:p>
            <a:pPr marL="0" indent="0">
              <a:buNone/>
            </a:pPr>
            <a:r>
              <a:rPr lang="en-US" sz="1400" b="1" dirty="0">
                <a:solidFill>
                  <a:schemeClr val="tx2"/>
                </a:solidFill>
              </a:rPr>
              <a:t>Hallucinations</a:t>
            </a:r>
            <a:endParaRPr lang="en-US" sz="1400" dirty="0"/>
          </a:p>
        </p:txBody>
      </p:sp>
      <p:sp>
        <p:nvSpPr>
          <p:cNvPr id="17" name="Texte problème 2"/>
          <p:cNvSpPr txBox="1"/>
          <p:nvPr/>
        </p:nvSpPr>
        <p:spPr>
          <a:xfrm>
            <a:off x="6126480" y="2523744"/>
            <a:ext cx="2377440" cy="457200"/>
          </a:xfrm>
          <a:prstGeom prst="rect">
            <a:avLst/>
          </a:prstGeom>
          <a:noFill/>
          <a:ln/>
        </p:spPr>
        <p:txBody>
          <a:bodyPr wrap="square" lIns="0" tIns="0" rIns="0" bIns="0" rtlCol="0" anchor="t"/>
          <a:lstStyle/>
          <a:p>
            <a:pPr marL="0" indent="0">
              <a:buNone/>
            </a:pPr>
            <a:r>
              <a:rPr lang="en-US" sz="1400" dirty="0">
                <a:solidFill>
                  <a:schemeClr val="tx1"/>
                </a:solidFill>
              </a:rPr>
              <a:t>Détails ou références inventés</a:t>
            </a:r>
            <a:endParaRPr lang="en-US" sz="1400" dirty="0"/>
          </a:p>
        </p:txBody>
      </p:sp>
      <p:sp>
        <p:nvSpPr>
          <p:cNvPr id="18" name="Carte problème 3"/>
          <p:cNvSpPr/>
          <p:nvPr/>
        </p:nvSpPr>
        <p:spPr>
          <a:xfrm>
            <a:off x="5394960" y="3072384"/>
            <a:ext cx="3200400" cy="822960"/>
          </a:xfrm>
          <a:prstGeom prst="roundRect">
            <a:avLst>
              <a:gd name="adj" fmla="val 11111"/>
            </a:avLst>
          </a:prstGeom>
          <a:solidFill>
            <a:schemeClr val="bg2"/>
          </a:solidFill>
          <a:ln/>
        </p:spPr>
        <p:txBody>
          <a:bodyPr/>
          <a:lstStyle/>
          <a:p>
            <a:endParaRPr lang="fr-FR"/>
          </a:p>
        </p:txBody>
      </p:sp>
      <p:sp>
        <p:nvSpPr>
          <p:cNvPr id="19" name="Icône problème 3 fond"/>
          <p:cNvSpPr/>
          <p:nvPr/>
        </p:nvSpPr>
        <p:spPr>
          <a:xfrm>
            <a:off x="5532120" y="3255264"/>
            <a:ext cx="457200" cy="457200"/>
          </a:xfrm>
          <a:prstGeom prst="ellipse">
            <a:avLst/>
          </a:prstGeom>
          <a:solidFill>
            <a:schemeClr val="accent2"/>
          </a:solidFill>
          <a:ln/>
        </p:spPr>
        <p:txBody>
          <a:bodyPr/>
          <a:lstStyle/>
          <a:p>
            <a:endParaRPr lang="fr-FR"/>
          </a:p>
        </p:txBody>
      </p:sp>
      <p:pic>
        <p:nvPicPr>
          <p:cNvPr id="20" name="Icône problème 3" descr="Icône problème 3"/>
          <p:cNvPicPr>
            <a:picLocks noChangeAspect="1"/>
          </p:cNvPicPr>
          <p:nvPr/>
        </p:nvPicPr>
        <p:blipFill>
          <a:blip r:embed="rId5"/>
          <a:stretch>
            <a:fillRect/>
          </a:stretch>
        </p:blipFill>
        <p:spPr>
          <a:xfrm>
            <a:off x="5646420" y="3369564"/>
            <a:ext cx="228600" cy="228600"/>
          </a:xfrm>
          <a:prstGeom prst="rect">
            <a:avLst/>
          </a:prstGeom>
        </p:spPr>
      </p:pic>
      <p:sp>
        <p:nvSpPr>
          <p:cNvPr id="21" name="Titre problème 3"/>
          <p:cNvSpPr txBox="1"/>
          <p:nvPr/>
        </p:nvSpPr>
        <p:spPr>
          <a:xfrm>
            <a:off x="6126480" y="3136392"/>
            <a:ext cx="2377440" cy="274320"/>
          </a:xfrm>
          <a:prstGeom prst="rect">
            <a:avLst/>
          </a:prstGeom>
          <a:noFill/>
          <a:ln/>
        </p:spPr>
        <p:txBody>
          <a:bodyPr wrap="square" lIns="0" tIns="0" rIns="0" bIns="0" rtlCol="0" anchor="ctr"/>
          <a:lstStyle/>
          <a:p>
            <a:pPr marL="0" indent="0">
              <a:buNone/>
            </a:pPr>
            <a:r>
              <a:rPr lang="en-US" sz="1400" b="1" dirty="0">
                <a:solidFill>
                  <a:schemeClr val="tx2"/>
                </a:solidFill>
              </a:rPr>
              <a:t>Pas de sources</a:t>
            </a:r>
            <a:endParaRPr lang="en-US" sz="1400" dirty="0"/>
          </a:p>
        </p:txBody>
      </p:sp>
      <p:sp>
        <p:nvSpPr>
          <p:cNvPr id="22" name="Texte problème 3"/>
          <p:cNvSpPr txBox="1"/>
          <p:nvPr/>
        </p:nvSpPr>
        <p:spPr>
          <a:xfrm>
            <a:off x="6126480" y="3419856"/>
            <a:ext cx="2377440" cy="457200"/>
          </a:xfrm>
          <a:prstGeom prst="rect">
            <a:avLst/>
          </a:prstGeom>
          <a:noFill/>
          <a:ln/>
        </p:spPr>
        <p:txBody>
          <a:bodyPr wrap="square" lIns="0" tIns="0" rIns="0" bIns="0" rtlCol="0" anchor="t"/>
          <a:lstStyle/>
          <a:p>
            <a:pPr marL="0" indent="0">
              <a:buNone/>
            </a:pPr>
            <a:r>
              <a:rPr lang="en-US" sz="1400" dirty="0">
                <a:solidFill>
                  <a:schemeClr val="tx1"/>
                </a:solidFill>
              </a:rPr>
              <a:t>Réponse invérifiable, données internes inconnues</a:t>
            </a:r>
            <a:endParaRPr lang="en-US" sz="1400" dirty="0"/>
          </a:p>
        </p:txBody>
      </p:sp>
      <p:sp>
        <p:nvSpPr>
          <p:cNvPr id="23" name="Bandeau besoin"/>
          <p:cNvSpPr/>
          <p:nvPr/>
        </p:nvSpPr>
        <p:spPr>
          <a:xfrm>
            <a:off x="548640" y="4023360"/>
            <a:ext cx="8046720" cy="566928"/>
          </a:xfrm>
          <a:prstGeom prst="roundRect">
            <a:avLst>
              <a:gd name="adj" fmla="val 16129"/>
            </a:avLst>
          </a:prstGeom>
          <a:solidFill>
            <a:schemeClr val="accent2"/>
          </a:solidFill>
          <a:ln/>
        </p:spPr>
        <p:txBody>
          <a:bodyPr/>
          <a:lstStyle/>
          <a:p>
            <a:endParaRPr lang="fr-FR"/>
          </a:p>
        </p:txBody>
      </p:sp>
      <p:sp>
        <p:nvSpPr>
          <p:cNvPr id="24" name="Texte besoin"/>
          <p:cNvSpPr txBox="1"/>
          <p:nvPr/>
        </p:nvSpPr>
        <p:spPr>
          <a:xfrm>
            <a:off x="731520" y="4023360"/>
            <a:ext cx="7680960" cy="566928"/>
          </a:xfrm>
          <a:prstGeom prst="rect">
            <a:avLst/>
          </a:prstGeom>
          <a:noFill/>
          <a:ln/>
        </p:spPr>
        <p:txBody>
          <a:bodyPr wrap="square" lIns="0" tIns="0" rIns="0" bIns="0" rtlCol="0" anchor="ctr"/>
          <a:lstStyle/>
          <a:p>
            <a:pPr marL="0" indent="0" algn="ctr">
              <a:buNone/>
            </a:pPr>
            <a:r>
              <a:rPr lang="en-US" sz="1600" b="1" dirty="0">
                <a:solidFill>
                  <a:schemeClr val="bg1"/>
                </a:solidFill>
              </a:rPr>
              <a:t>Il faut un LLM qui consulte des sources fiables avant de répondre</a:t>
            </a:r>
            <a:endParaRPr lang="en-US" sz="16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La solution : le RAG</a:t>
            </a:r>
            <a:endParaRPr lang="en-US" sz="3000" dirty="0"/>
          </a:p>
        </p:txBody>
      </p:sp>
      <p:sp>
        <p:nvSpPr>
          <p:cNvPr id="3" name="Carte étape 1"/>
          <p:cNvSpPr/>
          <p:nvPr/>
        </p:nvSpPr>
        <p:spPr>
          <a:xfrm>
            <a:off x="548640" y="1325880"/>
            <a:ext cx="2286000" cy="2103120"/>
          </a:xfrm>
          <a:prstGeom prst="roundRect">
            <a:avLst>
              <a:gd name="adj" fmla="val 5217"/>
            </a:avLst>
          </a:prstGeom>
          <a:solidFill>
            <a:schemeClr val="bg2"/>
          </a:solidFill>
          <a:ln/>
        </p:spPr>
        <p:txBody>
          <a:bodyPr/>
          <a:lstStyle/>
          <a:p>
            <a:endParaRPr lang="fr-FR"/>
          </a:p>
        </p:txBody>
      </p:sp>
      <p:sp>
        <p:nvSpPr>
          <p:cNvPr id="4" name="Icône étape 1 fond"/>
          <p:cNvSpPr/>
          <p:nvPr/>
        </p:nvSpPr>
        <p:spPr>
          <a:xfrm>
            <a:off x="731520" y="1554480"/>
            <a:ext cx="548640" cy="548640"/>
          </a:xfrm>
          <a:prstGeom prst="ellipse">
            <a:avLst/>
          </a:prstGeom>
          <a:solidFill>
            <a:schemeClr val="accent1"/>
          </a:solidFill>
          <a:ln/>
        </p:spPr>
        <p:txBody>
          <a:bodyPr/>
          <a:lstStyle/>
          <a:p>
            <a:endParaRPr lang="fr-FR"/>
          </a:p>
        </p:txBody>
      </p:sp>
      <p:pic>
        <p:nvPicPr>
          <p:cNvPr id="5" name="Icône étape 1" descr="Icône étape 1"/>
          <p:cNvPicPr>
            <a:picLocks noChangeAspect="1"/>
          </p:cNvPicPr>
          <p:nvPr/>
        </p:nvPicPr>
        <p:blipFill>
          <a:blip r:embed="rId3"/>
          <a:stretch>
            <a:fillRect/>
          </a:stretch>
        </p:blipFill>
        <p:spPr>
          <a:xfrm>
            <a:off x="868680" y="1691640"/>
            <a:ext cx="274320" cy="274320"/>
          </a:xfrm>
          <a:prstGeom prst="rect">
            <a:avLst/>
          </a:prstGeom>
        </p:spPr>
      </p:pic>
      <p:sp>
        <p:nvSpPr>
          <p:cNvPr id="6" name="Étape 1"/>
          <p:cNvSpPr txBox="1"/>
          <p:nvPr/>
        </p:nvSpPr>
        <p:spPr>
          <a:xfrm>
            <a:off x="731520" y="2194560"/>
            <a:ext cx="1920240" cy="320040"/>
          </a:xfrm>
          <a:prstGeom prst="rect">
            <a:avLst/>
          </a:prstGeom>
          <a:noFill/>
          <a:ln/>
        </p:spPr>
        <p:txBody>
          <a:bodyPr wrap="square" lIns="0" tIns="0" rIns="0" bIns="0" rtlCol="0" anchor="ctr"/>
          <a:lstStyle/>
          <a:p>
            <a:pPr marL="0" indent="0">
              <a:buNone/>
            </a:pPr>
            <a:r>
              <a:rPr lang="en-US" sz="1600" b="1" dirty="0">
                <a:solidFill>
                  <a:schemeClr val="tx2"/>
                </a:solidFill>
              </a:rPr>
              <a:t>1. Requête</a:t>
            </a:r>
            <a:endParaRPr lang="en-US" sz="1600" dirty="0"/>
          </a:p>
        </p:txBody>
      </p:sp>
      <p:sp>
        <p:nvSpPr>
          <p:cNvPr id="7" name="Description étape 1"/>
          <p:cNvSpPr txBox="1"/>
          <p:nvPr/>
        </p:nvSpPr>
        <p:spPr>
          <a:xfrm>
            <a:off x="731520" y="2560320"/>
            <a:ext cx="1920240" cy="777240"/>
          </a:xfrm>
          <a:prstGeom prst="rect">
            <a:avLst/>
          </a:prstGeom>
          <a:noFill/>
          <a:ln/>
        </p:spPr>
        <p:txBody>
          <a:bodyPr wrap="square" lIns="0" tIns="0" rIns="0" bIns="0" rtlCol="0" anchor="t"/>
          <a:lstStyle/>
          <a:p>
            <a:pPr marL="0" indent="0">
              <a:buNone/>
            </a:pPr>
            <a:r>
              <a:rPr lang="en-US" sz="1400" dirty="0">
                <a:solidFill>
                  <a:schemeClr val="tx1"/>
                </a:solidFill>
              </a:rPr>
              <a:t>L’utilisateur pose une question</a:t>
            </a:r>
            <a:endParaRPr lang="en-US" sz="1400" dirty="0"/>
          </a:p>
        </p:txBody>
      </p:sp>
      <p:sp>
        <p:nvSpPr>
          <p:cNvPr id="8" name="Flèche 1"/>
          <p:cNvSpPr/>
          <p:nvPr/>
        </p:nvSpPr>
        <p:spPr>
          <a:xfrm>
            <a:off x="2944368" y="2148840"/>
            <a:ext cx="365760" cy="274320"/>
          </a:xfrm>
          <a:prstGeom prst="rightArrow">
            <a:avLst/>
          </a:prstGeom>
          <a:solidFill>
            <a:srgbClr val="D9623B"/>
          </a:solidFill>
          <a:ln/>
        </p:spPr>
        <p:txBody>
          <a:bodyPr/>
          <a:lstStyle/>
          <a:p>
            <a:endParaRPr lang="fr-FR"/>
          </a:p>
        </p:txBody>
      </p:sp>
      <p:sp>
        <p:nvSpPr>
          <p:cNvPr id="9" name="Carte étape 2"/>
          <p:cNvSpPr/>
          <p:nvPr/>
        </p:nvSpPr>
        <p:spPr>
          <a:xfrm>
            <a:off x="3429000" y="1325880"/>
            <a:ext cx="2286000" cy="2103120"/>
          </a:xfrm>
          <a:prstGeom prst="roundRect">
            <a:avLst>
              <a:gd name="adj" fmla="val 5217"/>
            </a:avLst>
          </a:prstGeom>
          <a:solidFill>
            <a:schemeClr val="bg2"/>
          </a:solidFill>
          <a:ln/>
        </p:spPr>
        <p:txBody>
          <a:bodyPr/>
          <a:lstStyle/>
          <a:p>
            <a:endParaRPr lang="fr-FR"/>
          </a:p>
        </p:txBody>
      </p:sp>
      <p:sp>
        <p:nvSpPr>
          <p:cNvPr id="10" name="Icône étape 2 fond"/>
          <p:cNvSpPr/>
          <p:nvPr/>
        </p:nvSpPr>
        <p:spPr>
          <a:xfrm>
            <a:off x="3611880" y="1554480"/>
            <a:ext cx="548640" cy="548640"/>
          </a:xfrm>
          <a:prstGeom prst="ellipse">
            <a:avLst/>
          </a:prstGeom>
          <a:solidFill>
            <a:schemeClr val="accent1"/>
          </a:solidFill>
          <a:ln/>
        </p:spPr>
        <p:txBody>
          <a:bodyPr/>
          <a:lstStyle/>
          <a:p>
            <a:endParaRPr lang="fr-FR"/>
          </a:p>
        </p:txBody>
      </p:sp>
      <p:pic>
        <p:nvPicPr>
          <p:cNvPr id="11" name="Icône étape 2" descr="Icône étape 2"/>
          <p:cNvPicPr>
            <a:picLocks noChangeAspect="1"/>
          </p:cNvPicPr>
          <p:nvPr/>
        </p:nvPicPr>
        <p:blipFill>
          <a:blip r:embed="rId4"/>
          <a:stretch>
            <a:fillRect/>
          </a:stretch>
        </p:blipFill>
        <p:spPr>
          <a:xfrm>
            <a:off x="3749040" y="1691640"/>
            <a:ext cx="274320" cy="274320"/>
          </a:xfrm>
          <a:prstGeom prst="rect">
            <a:avLst/>
          </a:prstGeom>
        </p:spPr>
      </p:pic>
      <p:sp>
        <p:nvSpPr>
          <p:cNvPr id="12" name="Étape 2"/>
          <p:cNvSpPr txBox="1"/>
          <p:nvPr/>
        </p:nvSpPr>
        <p:spPr>
          <a:xfrm>
            <a:off x="3611880" y="2194560"/>
            <a:ext cx="1920240" cy="320040"/>
          </a:xfrm>
          <a:prstGeom prst="rect">
            <a:avLst/>
          </a:prstGeom>
          <a:noFill/>
          <a:ln/>
        </p:spPr>
        <p:txBody>
          <a:bodyPr wrap="square" lIns="0" tIns="0" rIns="0" bIns="0" rtlCol="0" anchor="ctr"/>
          <a:lstStyle/>
          <a:p>
            <a:pPr marL="0" indent="0">
              <a:buNone/>
            </a:pPr>
            <a:r>
              <a:rPr lang="en-US" sz="1600" b="1" dirty="0">
                <a:solidFill>
                  <a:schemeClr val="tx2"/>
                </a:solidFill>
              </a:rPr>
              <a:t>2. Récupération</a:t>
            </a:r>
            <a:endParaRPr lang="en-US" sz="1600" dirty="0"/>
          </a:p>
        </p:txBody>
      </p:sp>
      <p:sp>
        <p:nvSpPr>
          <p:cNvPr id="13" name="Description étape 2"/>
          <p:cNvSpPr txBox="1"/>
          <p:nvPr/>
        </p:nvSpPr>
        <p:spPr>
          <a:xfrm>
            <a:off x="3611880" y="2560320"/>
            <a:ext cx="1920240" cy="777240"/>
          </a:xfrm>
          <a:prstGeom prst="rect">
            <a:avLst/>
          </a:prstGeom>
          <a:noFill/>
          <a:ln/>
        </p:spPr>
        <p:txBody>
          <a:bodyPr wrap="square" lIns="0" tIns="0" rIns="0" bIns="0" rtlCol="0" anchor="t"/>
          <a:lstStyle/>
          <a:p>
            <a:pPr marL="0" indent="0">
              <a:buNone/>
            </a:pPr>
            <a:r>
              <a:rPr lang="en-US" sz="1400" dirty="0">
                <a:solidFill>
                  <a:schemeClr val="tx1"/>
                </a:solidFill>
              </a:rPr>
              <a:t>Les passages les plus proches sont trouvés dans une base</a:t>
            </a:r>
            <a:endParaRPr lang="en-US" sz="1400" dirty="0"/>
          </a:p>
        </p:txBody>
      </p:sp>
      <p:sp>
        <p:nvSpPr>
          <p:cNvPr id="14" name="Flèche 2"/>
          <p:cNvSpPr/>
          <p:nvPr/>
        </p:nvSpPr>
        <p:spPr>
          <a:xfrm>
            <a:off x="5824728" y="2148840"/>
            <a:ext cx="365760" cy="274320"/>
          </a:xfrm>
          <a:prstGeom prst="rightArrow">
            <a:avLst/>
          </a:prstGeom>
          <a:solidFill>
            <a:srgbClr val="D9623B"/>
          </a:solidFill>
          <a:ln/>
        </p:spPr>
        <p:txBody>
          <a:bodyPr/>
          <a:lstStyle/>
          <a:p>
            <a:endParaRPr lang="fr-FR"/>
          </a:p>
        </p:txBody>
      </p:sp>
      <p:sp>
        <p:nvSpPr>
          <p:cNvPr id="15" name="Carte étape 3"/>
          <p:cNvSpPr/>
          <p:nvPr/>
        </p:nvSpPr>
        <p:spPr>
          <a:xfrm>
            <a:off x="6309360" y="1325880"/>
            <a:ext cx="2286000" cy="2103120"/>
          </a:xfrm>
          <a:prstGeom prst="roundRect">
            <a:avLst>
              <a:gd name="adj" fmla="val 5217"/>
            </a:avLst>
          </a:prstGeom>
          <a:solidFill>
            <a:schemeClr val="bg2"/>
          </a:solidFill>
          <a:ln/>
        </p:spPr>
        <p:txBody>
          <a:bodyPr/>
          <a:lstStyle/>
          <a:p>
            <a:endParaRPr lang="fr-FR"/>
          </a:p>
        </p:txBody>
      </p:sp>
      <p:sp>
        <p:nvSpPr>
          <p:cNvPr id="16" name="Icône étape 3 fond"/>
          <p:cNvSpPr/>
          <p:nvPr/>
        </p:nvSpPr>
        <p:spPr>
          <a:xfrm>
            <a:off x="6492240" y="1554480"/>
            <a:ext cx="548640" cy="548640"/>
          </a:xfrm>
          <a:prstGeom prst="ellipse">
            <a:avLst/>
          </a:prstGeom>
          <a:solidFill>
            <a:schemeClr val="accent1"/>
          </a:solidFill>
          <a:ln/>
        </p:spPr>
        <p:txBody>
          <a:bodyPr/>
          <a:lstStyle/>
          <a:p>
            <a:endParaRPr lang="fr-FR"/>
          </a:p>
        </p:txBody>
      </p:sp>
      <p:pic>
        <p:nvPicPr>
          <p:cNvPr id="17" name="Icône étape 3" descr="Icône étape 3"/>
          <p:cNvPicPr>
            <a:picLocks noChangeAspect="1"/>
          </p:cNvPicPr>
          <p:nvPr/>
        </p:nvPicPr>
        <p:blipFill>
          <a:blip r:embed="rId5"/>
          <a:stretch>
            <a:fillRect/>
          </a:stretch>
        </p:blipFill>
        <p:spPr>
          <a:xfrm>
            <a:off x="6629400" y="1691640"/>
            <a:ext cx="274320" cy="274320"/>
          </a:xfrm>
          <a:prstGeom prst="rect">
            <a:avLst/>
          </a:prstGeom>
        </p:spPr>
      </p:pic>
      <p:sp>
        <p:nvSpPr>
          <p:cNvPr id="18" name="Étape 3"/>
          <p:cNvSpPr txBox="1"/>
          <p:nvPr/>
        </p:nvSpPr>
        <p:spPr>
          <a:xfrm>
            <a:off x="6492240" y="2194560"/>
            <a:ext cx="1920240" cy="320040"/>
          </a:xfrm>
          <a:prstGeom prst="rect">
            <a:avLst/>
          </a:prstGeom>
          <a:noFill/>
          <a:ln/>
        </p:spPr>
        <p:txBody>
          <a:bodyPr wrap="square" lIns="0" tIns="0" rIns="0" bIns="0" rtlCol="0" anchor="ctr"/>
          <a:lstStyle/>
          <a:p>
            <a:pPr marL="0" indent="0">
              <a:buNone/>
            </a:pPr>
            <a:r>
              <a:rPr lang="en-US" sz="1600" b="1" dirty="0">
                <a:solidFill>
                  <a:schemeClr val="tx2"/>
                </a:solidFill>
              </a:rPr>
              <a:t>3. Génération</a:t>
            </a:r>
            <a:endParaRPr lang="en-US" sz="1600" dirty="0"/>
          </a:p>
        </p:txBody>
      </p:sp>
      <p:sp>
        <p:nvSpPr>
          <p:cNvPr id="19" name="Description étape 3"/>
          <p:cNvSpPr txBox="1"/>
          <p:nvPr/>
        </p:nvSpPr>
        <p:spPr>
          <a:xfrm>
            <a:off x="6492240" y="2560320"/>
            <a:ext cx="1920240" cy="777240"/>
          </a:xfrm>
          <a:prstGeom prst="rect">
            <a:avLst/>
          </a:prstGeom>
          <a:noFill/>
          <a:ln/>
        </p:spPr>
        <p:txBody>
          <a:bodyPr wrap="square" lIns="0" tIns="0" rIns="0" bIns="0" rtlCol="0" anchor="t"/>
          <a:lstStyle/>
          <a:p>
            <a:pPr marL="0" indent="0">
              <a:buNone/>
            </a:pPr>
            <a:r>
              <a:rPr lang="en-US" sz="1400" dirty="0">
                <a:solidFill>
                  <a:schemeClr val="tx1"/>
                </a:solidFill>
              </a:rPr>
              <a:t>Le LLM répond en s’appuyant sur ces passages</a:t>
            </a:r>
            <a:endParaRPr lang="en-US" sz="1400" dirty="0"/>
          </a:p>
        </p:txBody>
      </p:sp>
      <p:pic>
        <p:nvPicPr>
          <p:cNvPr id="20" name="Coche 1" descr="Coche"/>
          <p:cNvPicPr>
            <a:picLocks noChangeAspect="1"/>
          </p:cNvPicPr>
          <p:nvPr/>
        </p:nvPicPr>
        <p:blipFill>
          <a:blip r:embed="rId6"/>
          <a:stretch>
            <a:fillRect/>
          </a:stretch>
        </p:blipFill>
        <p:spPr>
          <a:xfrm>
            <a:off x="548640" y="3776472"/>
            <a:ext cx="292608" cy="292608"/>
          </a:xfrm>
          <a:prstGeom prst="rect">
            <a:avLst/>
          </a:prstGeom>
        </p:spPr>
      </p:pic>
      <p:sp>
        <p:nvSpPr>
          <p:cNvPr id="21" name="Atout 1"/>
          <p:cNvSpPr txBox="1"/>
          <p:nvPr/>
        </p:nvSpPr>
        <p:spPr>
          <a:xfrm>
            <a:off x="960120" y="3657600"/>
            <a:ext cx="1874520" cy="548640"/>
          </a:xfrm>
          <a:prstGeom prst="rect">
            <a:avLst/>
          </a:prstGeom>
          <a:noFill/>
          <a:ln/>
        </p:spPr>
        <p:txBody>
          <a:bodyPr wrap="square" lIns="0" tIns="0" rIns="0" bIns="0" rtlCol="0" anchor="ctr"/>
          <a:lstStyle/>
          <a:p>
            <a:pPr marL="0" indent="0">
              <a:buNone/>
            </a:pPr>
            <a:r>
              <a:rPr lang="en-US" sz="1400" b="1" dirty="0">
                <a:solidFill>
                  <a:schemeClr val="tx1"/>
                </a:solidFill>
              </a:rPr>
              <a:t>Moins d’hallucinations</a:t>
            </a:r>
            <a:endParaRPr lang="en-US" sz="1400" dirty="0"/>
          </a:p>
        </p:txBody>
      </p:sp>
      <p:pic>
        <p:nvPicPr>
          <p:cNvPr id="22" name="Coche 2" descr="Coche"/>
          <p:cNvPicPr>
            <a:picLocks noChangeAspect="1"/>
          </p:cNvPicPr>
          <p:nvPr/>
        </p:nvPicPr>
        <p:blipFill>
          <a:blip r:embed="rId6"/>
          <a:stretch>
            <a:fillRect/>
          </a:stretch>
        </p:blipFill>
        <p:spPr>
          <a:xfrm>
            <a:off x="3429000" y="3776472"/>
            <a:ext cx="292608" cy="292608"/>
          </a:xfrm>
          <a:prstGeom prst="rect">
            <a:avLst/>
          </a:prstGeom>
        </p:spPr>
      </p:pic>
      <p:sp>
        <p:nvSpPr>
          <p:cNvPr id="23" name="Atout 2"/>
          <p:cNvSpPr txBox="1"/>
          <p:nvPr/>
        </p:nvSpPr>
        <p:spPr>
          <a:xfrm>
            <a:off x="3840480" y="3657600"/>
            <a:ext cx="1874520" cy="548640"/>
          </a:xfrm>
          <a:prstGeom prst="rect">
            <a:avLst/>
          </a:prstGeom>
          <a:noFill/>
          <a:ln/>
        </p:spPr>
        <p:txBody>
          <a:bodyPr wrap="square" lIns="0" tIns="0" rIns="0" bIns="0" rtlCol="0" anchor="ctr"/>
          <a:lstStyle/>
          <a:p>
            <a:pPr marL="0" indent="0">
              <a:buNone/>
            </a:pPr>
            <a:r>
              <a:rPr lang="en-US" sz="1400" b="1" dirty="0">
                <a:solidFill>
                  <a:schemeClr val="tx1"/>
                </a:solidFill>
              </a:rPr>
              <a:t>Connaissances à jour, sans réentraîner</a:t>
            </a:r>
            <a:endParaRPr lang="en-US" sz="1400" dirty="0"/>
          </a:p>
        </p:txBody>
      </p:sp>
      <p:pic>
        <p:nvPicPr>
          <p:cNvPr id="24" name="Coche 3" descr="Coche"/>
          <p:cNvPicPr>
            <a:picLocks noChangeAspect="1"/>
          </p:cNvPicPr>
          <p:nvPr/>
        </p:nvPicPr>
        <p:blipFill>
          <a:blip r:embed="rId6"/>
          <a:stretch>
            <a:fillRect/>
          </a:stretch>
        </p:blipFill>
        <p:spPr>
          <a:xfrm>
            <a:off x="6309360" y="3776472"/>
            <a:ext cx="292608" cy="292608"/>
          </a:xfrm>
          <a:prstGeom prst="rect">
            <a:avLst/>
          </a:prstGeom>
        </p:spPr>
      </p:pic>
      <p:sp>
        <p:nvSpPr>
          <p:cNvPr id="25" name="Atout 3"/>
          <p:cNvSpPr txBox="1"/>
          <p:nvPr/>
        </p:nvSpPr>
        <p:spPr>
          <a:xfrm>
            <a:off x="6720840" y="3657600"/>
            <a:ext cx="1874520" cy="548640"/>
          </a:xfrm>
          <a:prstGeom prst="rect">
            <a:avLst/>
          </a:prstGeom>
          <a:noFill/>
          <a:ln/>
        </p:spPr>
        <p:txBody>
          <a:bodyPr wrap="square" lIns="0" tIns="0" rIns="0" bIns="0" rtlCol="0" anchor="ctr"/>
          <a:lstStyle/>
          <a:p>
            <a:pPr marL="0" indent="0">
              <a:buNone/>
            </a:pPr>
            <a:r>
              <a:rPr lang="en-US" sz="1400" b="1" dirty="0">
                <a:solidFill>
                  <a:schemeClr val="tx1"/>
                </a:solidFill>
              </a:rPr>
              <a:t>Sources traçables</a:t>
            </a:r>
            <a:endParaRPr lang="en-US" sz="1400" dirty="0"/>
          </a:p>
        </p:txBody>
      </p:sp>
      <p:sp>
        <p:nvSpPr>
          <p:cNvPr id="26" name="Exemple avec RAG"/>
          <p:cNvSpPr txBox="1"/>
          <p:nvPr/>
        </p:nvSpPr>
        <p:spPr>
          <a:xfrm>
            <a:off x="548640" y="4206240"/>
            <a:ext cx="8046720" cy="457200"/>
          </a:xfrm>
          <a:prstGeom prst="rect">
            <a:avLst/>
          </a:prstGeom>
          <a:noFill/>
          <a:ln/>
        </p:spPr>
        <p:txBody>
          <a:bodyPr wrap="square" lIns="0" tIns="0" rIns="0" bIns="0" rtlCol="0" anchor="t"/>
          <a:lstStyle/>
          <a:p>
            <a:pPr marL="0" indent="0">
              <a:buNone/>
            </a:pPr>
            <a:r>
              <a:rPr lang="en-US" sz="1200" i="1" dirty="0">
                <a:solidFill>
                  <a:schemeClr val="tx2"/>
                </a:solidFill>
              </a:rPr>
              <a:t>Même question avec le RAG : le système retrouve la recommandation en vigueur, et le LLM répond en citant cette source. (Lewis et al., 2020 ; Gao et al., 2023)</a:t>
            </a:r>
            <a:endParaRPr lang="en-US" sz="1200" dirty="0"/>
          </a:p>
        </p:txBody>
      </p:sp>
      <p:sp>
        <p:nvSpPr>
          <p:cNvPr id="27"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Architecture du RAG : deux phases</a:t>
            </a:r>
            <a:endParaRPr lang="en-US" sz="3000" dirty="0"/>
          </a:p>
        </p:txBody>
      </p:sp>
      <p:sp>
        <p:nvSpPr>
          <p:cNvPr id="35" name="Note schéma"/>
          <p:cNvSpPr txBox="1"/>
          <p:nvPr/>
        </p:nvSpPr>
        <p:spPr>
          <a:xfrm>
            <a:off x="548640" y="4160520"/>
            <a:ext cx="8046720" cy="457200"/>
          </a:xfrm>
          <a:prstGeom prst="rect">
            <a:avLst/>
          </a:prstGeom>
          <a:noFill/>
          <a:ln/>
        </p:spPr>
        <p:txBody>
          <a:bodyPr wrap="square" lIns="0" tIns="0" rIns="0" bIns="0" rtlCol="0" anchor="t"/>
          <a:lstStyle/>
          <a:p>
            <a:pPr marL="0" indent="0">
              <a:buNone/>
            </a:pPr>
            <a:r>
              <a:rPr lang="en-US" sz="1200" i="1" dirty="0">
                <a:solidFill>
                  <a:schemeClr val="tx2"/>
                </a:solidFill>
              </a:rPr>
              <a:t>Schéma de synthèse d’après Gao et al. (2023, fig. 2) et Lewis et al. (2020). Le même encodeur sert aux documents et aux questions.</a:t>
            </a:r>
            <a:endParaRPr lang="en-US" sz="1200" dirty="0"/>
          </a:p>
        </p:txBody>
      </p:sp>
      <p:sp>
        <p:nvSpPr>
          <p:cNvPr id="36"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pic>
        <p:nvPicPr>
          <p:cNvPr id="38" name="Image 37">
            <a:extLst>
              <a:ext uri="{FF2B5EF4-FFF2-40B4-BE49-F238E27FC236}">
                <a16:creationId xmlns:a16="http://schemas.microsoft.com/office/drawing/2014/main" id="{88F9B570-40E8-297F-6CAC-CD1883944ED3}"/>
              </a:ext>
            </a:extLst>
          </p:cNvPr>
          <p:cNvPicPr>
            <a:picLocks noChangeAspect="1"/>
          </p:cNvPicPr>
          <p:nvPr/>
        </p:nvPicPr>
        <p:blipFill>
          <a:blip r:embed="rId3"/>
          <a:stretch>
            <a:fillRect/>
          </a:stretch>
        </p:blipFill>
        <p:spPr>
          <a:xfrm>
            <a:off x="723481" y="989762"/>
            <a:ext cx="7144378" cy="3163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Les trois paradigmes du RAG</a:t>
            </a:r>
            <a:endParaRPr lang="en-US" sz="3000" dirty="0"/>
          </a:p>
        </p:txBody>
      </p:sp>
      <p:sp>
        <p:nvSpPr>
          <p:cNvPr id="4" name="Source schéma"/>
          <p:cNvSpPr txBox="1"/>
          <p:nvPr/>
        </p:nvSpPr>
        <p:spPr>
          <a:xfrm>
            <a:off x="548640" y="4434840"/>
            <a:ext cx="8046720" cy="256032"/>
          </a:xfrm>
          <a:prstGeom prst="rect">
            <a:avLst/>
          </a:prstGeom>
          <a:noFill/>
          <a:ln/>
        </p:spPr>
        <p:txBody>
          <a:bodyPr wrap="square" lIns="0" tIns="0" rIns="0" bIns="0" rtlCol="0" anchor="ctr"/>
          <a:lstStyle/>
          <a:p>
            <a:pPr marL="0" indent="0">
              <a:buNone/>
            </a:pPr>
            <a:r>
              <a:rPr lang="en-US" sz="1200" i="1" dirty="0">
                <a:solidFill>
                  <a:schemeClr val="tx2"/>
                </a:solidFill>
              </a:rPr>
              <a:t>Schéma redessiné d’après Gao et al. (2023, fig. 3)</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pic>
        <p:nvPicPr>
          <p:cNvPr id="6" name="Image 5">
            <a:extLst>
              <a:ext uri="{FF2B5EF4-FFF2-40B4-BE49-F238E27FC236}">
                <a16:creationId xmlns:a16="http://schemas.microsoft.com/office/drawing/2014/main" id="{3AB9477F-8EF5-02BF-7C9E-DAE49A1C2505}"/>
              </a:ext>
            </a:extLst>
          </p:cNvPr>
          <p:cNvPicPr>
            <a:picLocks noChangeAspect="1"/>
          </p:cNvPicPr>
          <p:nvPr/>
        </p:nvPicPr>
        <p:blipFill>
          <a:blip r:embed="rId3"/>
          <a:stretch>
            <a:fillRect/>
          </a:stretch>
        </p:blipFill>
        <p:spPr>
          <a:xfrm>
            <a:off x="548640" y="871516"/>
            <a:ext cx="1682094" cy="3517604"/>
          </a:xfrm>
          <a:prstGeom prst="rect">
            <a:avLst/>
          </a:prstGeom>
        </p:spPr>
      </p:pic>
      <p:pic>
        <p:nvPicPr>
          <p:cNvPr id="8" name="Image 7">
            <a:extLst>
              <a:ext uri="{FF2B5EF4-FFF2-40B4-BE49-F238E27FC236}">
                <a16:creationId xmlns:a16="http://schemas.microsoft.com/office/drawing/2014/main" id="{09ACAFD3-3D9F-DA96-E52E-D2D4EEDCA0C2}"/>
              </a:ext>
            </a:extLst>
          </p:cNvPr>
          <p:cNvPicPr>
            <a:picLocks noChangeAspect="1"/>
          </p:cNvPicPr>
          <p:nvPr/>
        </p:nvPicPr>
        <p:blipFill>
          <a:blip r:embed="rId4"/>
          <a:stretch>
            <a:fillRect/>
          </a:stretch>
        </p:blipFill>
        <p:spPr>
          <a:xfrm>
            <a:off x="3654973" y="1015983"/>
            <a:ext cx="1590268" cy="3674889"/>
          </a:xfrm>
          <a:prstGeom prst="rect">
            <a:avLst/>
          </a:prstGeom>
        </p:spPr>
      </p:pic>
      <p:pic>
        <p:nvPicPr>
          <p:cNvPr id="10" name="Image 9">
            <a:extLst>
              <a:ext uri="{FF2B5EF4-FFF2-40B4-BE49-F238E27FC236}">
                <a16:creationId xmlns:a16="http://schemas.microsoft.com/office/drawing/2014/main" id="{4494071D-20A5-AF07-EA79-DF94621E75FC}"/>
              </a:ext>
            </a:extLst>
          </p:cNvPr>
          <p:cNvPicPr>
            <a:picLocks noChangeAspect="1"/>
          </p:cNvPicPr>
          <p:nvPr/>
        </p:nvPicPr>
        <p:blipFill>
          <a:blip r:embed="rId5"/>
          <a:stretch>
            <a:fillRect/>
          </a:stretch>
        </p:blipFill>
        <p:spPr>
          <a:xfrm>
            <a:off x="5554859" y="753626"/>
            <a:ext cx="3488657" cy="41109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Trois générations de RAG multimodal</a:t>
            </a:r>
            <a:endParaRPr lang="en-US" sz="3000" dirty="0"/>
          </a:p>
        </p:txBody>
      </p:sp>
      <p:pic>
        <p:nvPicPr>
          <p:cNvPr id="3" name="Schéma MRAG" descr="MRAG 1.0, 2.0 et 3.0"/>
          <p:cNvPicPr>
            <a:picLocks noChangeAspect="1"/>
          </p:cNvPicPr>
          <p:nvPr/>
        </p:nvPicPr>
        <p:blipFill>
          <a:blip r:embed="rId3"/>
          <a:stretch>
            <a:fillRect/>
          </a:stretch>
        </p:blipFill>
        <p:spPr>
          <a:xfrm>
            <a:off x="548640" y="1188720"/>
            <a:ext cx="8046720" cy="3200400"/>
          </a:xfrm>
          <a:prstGeom prst="rect">
            <a:avLst/>
          </a:prstGeom>
        </p:spPr>
      </p:pic>
      <p:sp>
        <p:nvSpPr>
          <p:cNvPr id="4" name="Source schéma"/>
          <p:cNvSpPr txBox="1"/>
          <p:nvPr/>
        </p:nvSpPr>
        <p:spPr>
          <a:xfrm>
            <a:off x="548640" y="4434840"/>
            <a:ext cx="8046720" cy="256032"/>
          </a:xfrm>
          <a:prstGeom prst="rect">
            <a:avLst/>
          </a:prstGeom>
          <a:noFill/>
          <a:ln/>
        </p:spPr>
        <p:txBody>
          <a:bodyPr wrap="square" lIns="0" tIns="0" rIns="0" bIns="0" rtlCol="0" anchor="ctr"/>
          <a:lstStyle/>
          <a:p>
            <a:pPr marL="0" indent="0">
              <a:buNone/>
            </a:pPr>
            <a:r>
              <a:rPr lang="en-US" sz="1200" i="1" dirty="0">
                <a:solidFill>
                  <a:schemeClr val="tx2"/>
                </a:solidFill>
              </a:rPr>
              <a:t>Schéma redessiné d’après Mei et al. (2025, fig. 1 à 3)</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Le RAG multimodal sous six angles</a:t>
            </a:r>
            <a:endParaRPr lang="en-US" sz="3000" dirty="0"/>
          </a:p>
        </p:txBody>
      </p:sp>
      <p:sp>
        <p:nvSpPr>
          <p:cNvPr id="3" name="Carte 1. Évolution"/>
          <p:cNvSpPr/>
          <p:nvPr/>
        </p:nvSpPr>
        <p:spPr>
          <a:xfrm>
            <a:off x="548640" y="1234440"/>
            <a:ext cx="2514600" cy="1280160"/>
          </a:xfrm>
          <a:prstGeom prst="roundRect">
            <a:avLst>
              <a:gd name="adj" fmla="val 8571"/>
            </a:avLst>
          </a:prstGeom>
          <a:solidFill>
            <a:schemeClr val="bg2"/>
          </a:solidFill>
          <a:ln/>
        </p:spPr>
        <p:txBody>
          <a:bodyPr/>
          <a:lstStyle/>
          <a:p>
            <a:endParaRPr lang="fr-FR"/>
          </a:p>
        </p:txBody>
      </p:sp>
      <p:sp>
        <p:nvSpPr>
          <p:cNvPr id="4" name="Icône 1. Évolution fond"/>
          <p:cNvSpPr/>
          <p:nvPr/>
        </p:nvSpPr>
        <p:spPr>
          <a:xfrm>
            <a:off x="731520" y="1371600"/>
            <a:ext cx="457200" cy="457200"/>
          </a:xfrm>
          <a:prstGeom prst="ellipse">
            <a:avLst/>
          </a:prstGeom>
          <a:solidFill>
            <a:schemeClr val="accent1"/>
          </a:solidFill>
          <a:ln/>
        </p:spPr>
        <p:txBody>
          <a:bodyPr/>
          <a:lstStyle/>
          <a:p>
            <a:endParaRPr lang="fr-FR"/>
          </a:p>
        </p:txBody>
      </p:sp>
      <p:pic>
        <p:nvPicPr>
          <p:cNvPr id="5" name="Icône 1. Évolution" descr="Icône 1. Évolution"/>
          <p:cNvPicPr>
            <a:picLocks noChangeAspect="1"/>
          </p:cNvPicPr>
          <p:nvPr/>
        </p:nvPicPr>
        <p:blipFill>
          <a:blip r:embed="rId3"/>
          <a:stretch>
            <a:fillRect/>
          </a:stretch>
        </p:blipFill>
        <p:spPr>
          <a:xfrm>
            <a:off x="845820" y="1485900"/>
            <a:ext cx="228600" cy="228600"/>
          </a:xfrm>
          <a:prstGeom prst="rect">
            <a:avLst/>
          </a:prstGeom>
        </p:spPr>
      </p:pic>
      <p:sp>
        <p:nvSpPr>
          <p:cNvPr id="6" name="Titre 1. Évolution"/>
          <p:cNvSpPr txBox="1"/>
          <p:nvPr/>
        </p:nvSpPr>
        <p:spPr>
          <a:xfrm>
            <a:off x="1298448" y="1371600"/>
            <a:ext cx="1645920" cy="457200"/>
          </a:xfrm>
          <a:prstGeom prst="rect">
            <a:avLst/>
          </a:prstGeom>
          <a:noFill/>
          <a:ln/>
        </p:spPr>
        <p:txBody>
          <a:bodyPr wrap="square" lIns="0" tIns="0" rIns="0" bIns="0" rtlCol="0" anchor="ctr"/>
          <a:lstStyle/>
          <a:p>
            <a:pPr marL="0" indent="0">
              <a:buNone/>
            </a:pPr>
            <a:r>
              <a:rPr lang="en-US" sz="1500" b="1" dirty="0">
                <a:solidFill>
                  <a:schemeClr val="tx2"/>
                </a:solidFill>
              </a:rPr>
              <a:t>1. Évolution</a:t>
            </a:r>
            <a:endParaRPr lang="en-US" sz="1500" dirty="0"/>
          </a:p>
        </p:txBody>
      </p:sp>
      <p:sp>
        <p:nvSpPr>
          <p:cNvPr id="7" name="Texte 1. Évolution"/>
          <p:cNvSpPr txBox="1"/>
          <p:nvPr/>
        </p:nvSpPr>
        <p:spPr>
          <a:xfrm>
            <a:off x="731520" y="1947672"/>
            <a:ext cx="2194560" cy="530352"/>
          </a:xfrm>
          <a:prstGeom prst="rect">
            <a:avLst/>
          </a:prstGeom>
          <a:noFill/>
          <a:ln/>
        </p:spPr>
        <p:txBody>
          <a:bodyPr wrap="square" lIns="0" tIns="0" rIns="0" bIns="0" rtlCol="0" anchor="t"/>
          <a:lstStyle/>
          <a:p>
            <a:pPr marL="0" indent="0">
              <a:buNone/>
            </a:pPr>
            <a:r>
              <a:rPr lang="en-US" sz="1400" dirty="0">
                <a:solidFill>
                  <a:schemeClr val="tx1"/>
                </a:solidFill>
              </a:rPr>
              <a:t>Du « tout texte » au MRAG 3.0</a:t>
            </a:r>
            <a:endParaRPr lang="en-US" sz="1400" dirty="0"/>
          </a:p>
        </p:txBody>
      </p:sp>
      <p:sp>
        <p:nvSpPr>
          <p:cNvPr id="8" name="Carte 2. Modalités"/>
          <p:cNvSpPr/>
          <p:nvPr/>
        </p:nvSpPr>
        <p:spPr>
          <a:xfrm>
            <a:off x="3337560" y="1234440"/>
            <a:ext cx="2514600" cy="1280160"/>
          </a:xfrm>
          <a:prstGeom prst="roundRect">
            <a:avLst>
              <a:gd name="adj" fmla="val 8571"/>
            </a:avLst>
          </a:prstGeom>
          <a:solidFill>
            <a:schemeClr val="bg2"/>
          </a:solidFill>
          <a:ln/>
        </p:spPr>
        <p:txBody>
          <a:bodyPr/>
          <a:lstStyle/>
          <a:p>
            <a:endParaRPr lang="fr-FR"/>
          </a:p>
        </p:txBody>
      </p:sp>
      <p:sp>
        <p:nvSpPr>
          <p:cNvPr id="9" name="Icône 2. Modalités fond"/>
          <p:cNvSpPr/>
          <p:nvPr/>
        </p:nvSpPr>
        <p:spPr>
          <a:xfrm>
            <a:off x="3520440" y="1371600"/>
            <a:ext cx="457200" cy="457200"/>
          </a:xfrm>
          <a:prstGeom prst="ellipse">
            <a:avLst/>
          </a:prstGeom>
          <a:solidFill>
            <a:schemeClr val="accent1"/>
          </a:solidFill>
          <a:ln/>
        </p:spPr>
        <p:txBody>
          <a:bodyPr/>
          <a:lstStyle/>
          <a:p>
            <a:endParaRPr lang="fr-FR"/>
          </a:p>
        </p:txBody>
      </p:sp>
      <p:pic>
        <p:nvPicPr>
          <p:cNvPr id="10" name="Icône 2. Modalités" descr="Icône 2. Modalités"/>
          <p:cNvPicPr>
            <a:picLocks noChangeAspect="1"/>
          </p:cNvPicPr>
          <p:nvPr/>
        </p:nvPicPr>
        <p:blipFill>
          <a:blip r:embed="rId4"/>
          <a:stretch>
            <a:fillRect/>
          </a:stretch>
        </p:blipFill>
        <p:spPr>
          <a:xfrm>
            <a:off x="3634740" y="1485900"/>
            <a:ext cx="228600" cy="228600"/>
          </a:xfrm>
          <a:prstGeom prst="rect">
            <a:avLst/>
          </a:prstGeom>
        </p:spPr>
      </p:pic>
      <p:sp>
        <p:nvSpPr>
          <p:cNvPr id="11" name="Titre 2. Modalités"/>
          <p:cNvSpPr txBox="1"/>
          <p:nvPr/>
        </p:nvSpPr>
        <p:spPr>
          <a:xfrm>
            <a:off x="4087368" y="1371600"/>
            <a:ext cx="1645920" cy="457200"/>
          </a:xfrm>
          <a:prstGeom prst="rect">
            <a:avLst/>
          </a:prstGeom>
          <a:noFill/>
          <a:ln/>
        </p:spPr>
        <p:txBody>
          <a:bodyPr wrap="square" lIns="0" tIns="0" rIns="0" bIns="0" rtlCol="0" anchor="ctr"/>
          <a:lstStyle/>
          <a:p>
            <a:pPr marL="0" indent="0">
              <a:buNone/>
            </a:pPr>
            <a:r>
              <a:rPr lang="en-US" sz="1500" b="1" dirty="0">
                <a:solidFill>
                  <a:schemeClr val="tx2"/>
                </a:solidFill>
              </a:rPr>
              <a:t>2. Modalités</a:t>
            </a:r>
            <a:endParaRPr lang="en-US" sz="1500" dirty="0"/>
          </a:p>
        </p:txBody>
      </p:sp>
      <p:sp>
        <p:nvSpPr>
          <p:cNvPr id="12" name="Texte 2. Modalités"/>
          <p:cNvSpPr txBox="1"/>
          <p:nvPr/>
        </p:nvSpPr>
        <p:spPr>
          <a:xfrm>
            <a:off x="3520440" y="1947672"/>
            <a:ext cx="2194560" cy="530352"/>
          </a:xfrm>
          <a:prstGeom prst="rect">
            <a:avLst/>
          </a:prstGeom>
          <a:noFill/>
          <a:ln/>
        </p:spPr>
        <p:txBody>
          <a:bodyPr wrap="square" lIns="0" tIns="0" rIns="0" bIns="0" rtlCol="0" anchor="t"/>
          <a:lstStyle/>
          <a:p>
            <a:pPr marL="0" indent="0">
              <a:buNone/>
            </a:pPr>
            <a:r>
              <a:rPr lang="en-US" sz="1400" dirty="0">
                <a:solidFill>
                  <a:schemeClr val="tx1"/>
                </a:solidFill>
              </a:rPr>
              <a:t>Image, vidéo, audio, PDF, HTML</a:t>
            </a:r>
            <a:endParaRPr lang="en-US" sz="1400" dirty="0"/>
          </a:p>
        </p:txBody>
      </p:sp>
      <p:sp>
        <p:nvSpPr>
          <p:cNvPr id="13" name="Carte 3. Parsing"/>
          <p:cNvSpPr/>
          <p:nvPr/>
        </p:nvSpPr>
        <p:spPr>
          <a:xfrm>
            <a:off x="6126480" y="1234440"/>
            <a:ext cx="2514600" cy="1280160"/>
          </a:xfrm>
          <a:prstGeom prst="roundRect">
            <a:avLst>
              <a:gd name="adj" fmla="val 8571"/>
            </a:avLst>
          </a:prstGeom>
          <a:solidFill>
            <a:schemeClr val="bg2"/>
          </a:solidFill>
          <a:ln/>
        </p:spPr>
        <p:txBody>
          <a:bodyPr/>
          <a:lstStyle/>
          <a:p>
            <a:endParaRPr lang="fr-FR"/>
          </a:p>
        </p:txBody>
      </p:sp>
      <p:sp>
        <p:nvSpPr>
          <p:cNvPr id="14" name="Icône 3. Parsing fond"/>
          <p:cNvSpPr/>
          <p:nvPr/>
        </p:nvSpPr>
        <p:spPr>
          <a:xfrm>
            <a:off x="6309360" y="1371600"/>
            <a:ext cx="457200" cy="457200"/>
          </a:xfrm>
          <a:prstGeom prst="ellipse">
            <a:avLst/>
          </a:prstGeom>
          <a:solidFill>
            <a:schemeClr val="accent1"/>
          </a:solidFill>
          <a:ln/>
        </p:spPr>
        <p:txBody>
          <a:bodyPr/>
          <a:lstStyle/>
          <a:p>
            <a:endParaRPr lang="fr-FR"/>
          </a:p>
        </p:txBody>
      </p:sp>
      <p:pic>
        <p:nvPicPr>
          <p:cNvPr id="15" name="Icône 3. Parsing" descr="Icône 3. Parsing"/>
          <p:cNvPicPr>
            <a:picLocks noChangeAspect="1"/>
          </p:cNvPicPr>
          <p:nvPr/>
        </p:nvPicPr>
        <p:blipFill>
          <a:blip r:embed="rId5"/>
          <a:stretch>
            <a:fillRect/>
          </a:stretch>
        </p:blipFill>
        <p:spPr>
          <a:xfrm>
            <a:off x="6423660" y="1485900"/>
            <a:ext cx="228600" cy="228600"/>
          </a:xfrm>
          <a:prstGeom prst="rect">
            <a:avLst/>
          </a:prstGeom>
        </p:spPr>
      </p:pic>
      <p:sp>
        <p:nvSpPr>
          <p:cNvPr id="16" name="Titre 3. Parsing"/>
          <p:cNvSpPr txBox="1"/>
          <p:nvPr/>
        </p:nvSpPr>
        <p:spPr>
          <a:xfrm>
            <a:off x="6876288" y="1371600"/>
            <a:ext cx="1645920" cy="457200"/>
          </a:xfrm>
          <a:prstGeom prst="rect">
            <a:avLst/>
          </a:prstGeom>
          <a:noFill/>
          <a:ln/>
        </p:spPr>
        <p:txBody>
          <a:bodyPr wrap="square" lIns="0" tIns="0" rIns="0" bIns="0" rtlCol="0" anchor="ctr"/>
          <a:lstStyle/>
          <a:p>
            <a:pPr marL="0" indent="0">
              <a:buNone/>
            </a:pPr>
            <a:r>
              <a:rPr lang="en-US" sz="1500" b="1" dirty="0">
                <a:solidFill>
                  <a:schemeClr val="tx2"/>
                </a:solidFill>
              </a:rPr>
              <a:t>3. Parsing</a:t>
            </a:r>
            <a:endParaRPr lang="en-US" sz="1500" dirty="0"/>
          </a:p>
        </p:txBody>
      </p:sp>
      <p:sp>
        <p:nvSpPr>
          <p:cNvPr id="17" name="Texte 3. Parsing"/>
          <p:cNvSpPr txBox="1"/>
          <p:nvPr/>
        </p:nvSpPr>
        <p:spPr>
          <a:xfrm>
            <a:off x="6309360" y="1947672"/>
            <a:ext cx="2194560" cy="530352"/>
          </a:xfrm>
          <a:prstGeom prst="rect">
            <a:avLst/>
          </a:prstGeom>
          <a:noFill/>
          <a:ln/>
        </p:spPr>
        <p:txBody>
          <a:bodyPr wrap="square" lIns="0" tIns="0" rIns="0" bIns="0" rtlCol="0" anchor="t"/>
          <a:lstStyle/>
          <a:p>
            <a:pPr marL="0" indent="0">
              <a:buNone/>
            </a:pPr>
            <a:r>
              <a:rPr lang="en-US" sz="1400" dirty="0">
                <a:solidFill>
                  <a:schemeClr val="tx1"/>
                </a:solidFill>
              </a:rPr>
              <a:t>Extraire le contenu ou indexer la page</a:t>
            </a:r>
            <a:endParaRPr lang="en-US" sz="1400" dirty="0"/>
          </a:p>
        </p:txBody>
      </p:sp>
      <p:sp>
        <p:nvSpPr>
          <p:cNvPr id="18" name="Carte 4. Retrieval"/>
          <p:cNvSpPr/>
          <p:nvPr/>
        </p:nvSpPr>
        <p:spPr>
          <a:xfrm>
            <a:off x="548640" y="2651760"/>
            <a:ext cx="2514600" cy="1280160"/>
          </a:xfrm>
          <a:prstGeom prst="roundRect">
            <a:avLst>
              <a:gd name="adj" fmla="val 8571"/>
            </a:avLst>
          </a:prstGeom>
          <a:solidFill>
            <a:schemeClr val="bg2"/>
          </a:solidFill>
          <a:ln/>
        </p:spPr>
        <p:txBody>
          <a:bodyPr/>
          <a:lstStyle/>
          <a:p>
            <a:endParaRPr lang="fr-FR"/>
          </a:p>
        </p:txBody>
      </p:sp>
      <p:sp>
        <p:nvSpPr>
          <p:cNvPr id="19" name="Icône 4. Retrieval fond"/>
          <p:cNvSpPr/>
          <p:nvPr/>
        </p:nvSpPr>
        <p:spPr>
          <a:xfrm>
            <a:off x="731520" y="2788920"/>
            <a:ext cx="457200" cy="457200"/>
          </a:xfrm>
          <a:prstGeom prst="ellipse">
            <a:avLst/>
          </a:prstGeom>
          <a:solidFill>
            <a:schemeClr val="accent2"/>
          </a:solidFill>
          <a:ln/>
        </p:spPr>
        <p:txBody>
          <a:bodyPr/>
          <a:lstStyle/>
          <a:p>
            <a:endParaRPr lang="fr-FR"/>
          </a:p>
        </p:txBody>
      </p:sp>
      <p:pic>
        <p:nvPicPr>
          <p:cNvPr id="20" name="Icône 4. Retrieval" descr="Icône 4. Retrieval"/>
          <p:cNvPicPr>
            <a:picLocks noChangeAspect="1"/>
          </p:cNvPicPr>
          <p:nvPr/>
        </p:nvPicPr>
        <p:blipFill>
          <a:blip r:embed="rId6"/>
          <a:stretch>
            <a:fillRect/>
          </a:stretch>
        </p:blipFill>
        <p:spPr>
          <a:xfrm>
            <a:off x="845820" y="2903220"/>
            <a:ext cx="228600" cy="228600"/>
          </a:xfrm>
          <a:prstGeom prst="rect">
            <a:avLst/>
          </a:prstGeom>
        </p:spPr>
      </p:pic>
      <p:sp>
        <p:nvSpPr>
          <p:cNvPr id="21" name="Titre 4. Retrieval"/>
          <p:cNvSpPr txBox="1"/>
          <p:nvPr/>
        </p:nvSpPr>
        <p:spPr>
          <a:xfrm>
            <a:off x="1298448" y="2788920"/>
            <a:ext cx="1645920" cy="457200"/>
          </a:xfrm>
          <a:prstGeom prst="rect">
            <a:avLst/>
          </a:prstGeom>
          <a:noFill/>
          <a:ln/>
        </p:spPr>
        <p:txBody>
          <a:bodyPr wrap="square" lIns="0" tIns="0" rIns="0" bIns="0" rtlCol="0" anchor="ctr"/>
          <a:lstStyle/>
          <a:p>
            <a:pPr marL="0" indent="0">
              <a:buNone/>
            </a:pPr>
            <a:r>
              <a:rPr lang="en-US" sz="1500" b="1" dirty="0">
                <a:solidFill>
                  <a:schemeClr val="tx2"/>
                </a:solidFill>
              </a:rPr>
              <a:t>4. Retrieval</a:t>
            </a:r>
            <a:endParaRPr lang="en-US" sz="1500" dirty="0"/>
          </a:p>
        </p:txBody>
      </p:sp>
      <p:sp>
        <p:nvSpPr>
          <p:cNvPr id="22" name="Texte 4. Retrieval"/>
          <p:cNvSpPr txBox="1"/>
          <p:nvPr/>
        </p:nvSpPr>
        <p:spPr>
          <a:xfrm>
            <a:off x="731520" y="3364992"/>
            <a:ext cx="2194560" cy="530352"/>
          </a:xfrm>
          <a:prstGeom prst="rect">
            <a:avLst/>
          </a:prstGeom>
          <a:noFill/>
          <a:ln/>
        </p:spPr>
        <p:txBody>
          <a:bodyPr wrap="square" lIns="0" tIns="0" rIns="0" bIns="0" rtlCol="0" anchor="t"/>
          <a:lstStyle/>
          <a:p>
            <a:pPr marL="0" indent="0">
              <a:buNone/>
            </a:pPr>
            <a:r>
              <a:rPr lang="en-US" sz="1400" dirty="0">
                <a:solidFill>
                  <a:schemeClr val="tx1"/>
                </a:solidFill>
              </a:rPr>
              <a:t>Planifier, retrouver, reclasser</a:t>
            </a:r>
            <a:endParaRPr lang="en-US" sz="1400" dirty="0"/>
          </a:p>
        </p:txBody>
      </p:sp>
      <p:sp>
        <p:nvSpPr>
          <p:cNvPr id="23" name="Carte 5. Génération"/>
          <p:cNvSpPr/>
          <p:nvPr/>
        </p:nvSpPr>
        <p:spPr>
          <a:xfrm>
            <a:off x="3337560" y="2651760"/>
            <a:ext cx="2514600" cy="1280160"/>
          </a:xfrm>
          <a:prstGeom prst="roundRect">
            <a:avLst>
              <a:gd name="adj" fmla="val 8571"/>
            </a:avLst>
          </a:prstGeom>
          <a:solidFill>
            <a:schemeClr val="bg2"/>
          </a:solidFill>
          <a:ln/>
        </p:spPr>
        <p:txBody>
          <a:bodyPr/>
          <a:lstStyle/>
          <a:p>
            <a:endParaRPr lang="fr-FR"/>
          </a:p>
        </p:txBody>
      </p:sp>
      <p:sp>
        <p:nvSpPr>
          <p:cNvPr id="24" name="Icône 5. Génération fond"/>
          <p:cNvSpPr/>
          <p:nvPr/>
        </p:nvSpPr>
        <p:spPr>
          <a:xfrm>
            <a:off x="3520440" y="2788920"/>
            <a:ext cx="457200" cy="457200"/>
          </a:xfrm>
          <a:prstGeom prst="ellipse">
            <a:avLst/>
          </a:prstGeom>
          <a:solidFill>
            <a:schemeClr val="accent2"/>
          </a:solidFill>
          <a:ln/>
        </p:spPr>
        <p:txBody>
          <a:bodyPr/>
          <a:lstStyle/>
          <a:p>
            <a:endParaRPr lang="fr-FR"/>
          </a:p>
        </p:txBody>
      </p:sp>
      <p:pic>
        <p:nvPicPr>
          <p:cNvPr id="25" name="Icône 5. Génération" descr="Icône 5. Génération"/>
          <p:cNvPicPr>
            <a:picLocks noChangeAspect="1"/>
          </p:cNvPicPr>
          <p:nvPr/>
        </p:nvPicPr>
        <p:blipFill>
          <a:blip r:embed="rId7"/>
          <a:stretch>
            <a:fillRect/>
          </a:stretch>
        </p:blipFill>
        <p:spPr>
          <a:xfrm>
            <a:off x="3634740" y="2903220"/>
            <a:ext cx="228600" cy="228600"/>
          </a:xfrm>
          <a:prstGeom prst="rect">
            <a:avLst/>
          </a:prstGeom>
        </p:spPr>
      </p:pic>
      <p:sp>
        <p:nvSpPr>
          <p:cNvPr id="26" name="Titre 5. Génération"/>
          <p:cNvSpPr txBox="1"/>
          <p:nvPr/>
        </p:nvSpPr>
        <p:spPr>
          <a:xfrm>
            <a:off x="4087368" y="2788920"/>
            <a:ext cx="1645920" cy="457200"/>
          </a:xfrm>
          <a:prstGeom prst="rect">
            <a:avLst/>
          </a:prstGeom>
          <a:noFill/>
          <a:ln/>
        </p:spPr>
        <p:txBody>
          <a:bodyPr wrap="square" lIns="0" tIns="0" rIns="0" bIns="0" rtlCol="0" anchor="ctr"/>
          <a:lstStyle/>
          <a:p>
            <a:pPr marL="0" indent="0">
              <a:buNone/>
            </a:pPr>
            <a:r>
              <a:rPr lang="en-US" sz="1500" b="1" dirty="0">
                <a:solidFill>
                  <a:schemeClr val="tx2"/>
                </a:solidFill>
              </a:rPr>
              <a:t>5. Génération</a:t>
            </a:r>
            <a:endParaRPr lang="en-US" sz="1500" dirty="0"/>
          </a:p>
        </p:txBody>
      </p:sp>
      <p:sp>
        <p:nvSpPr>
          <p:cNvPr id="27" name="Texte 5. Génération"/>
          <p:cNvSpPr txBox="1"/>
          <p:nvPr/>
        </p:nvSpPr>
        <p:spPr>
          <a:xfrm>
            <a:off x="3520440" y="3364992"/>
            <a:ext cx="2194560" cy="530352"/>
          </a:xfrm>
          <a:prstGeom prst="rect">
            <a:avLst/>
          </a:prstGeom>
          <a:noFill/>
          <a:ln/>
        </p:spPr>
        <p:txBody>
          <a:bodyPr wrap="square" lIns="0" tIns="0" rIns="0" bIns="0" rtlCol="0" anchor="t"/>
          <a:lstStyle/>
          <a:p>
            <a:pPr marL="0" indent="0">
              <a:buNone/>
            </a:pPr>
            <a:r>
              <a:rPr lang="en-US" sz="1400" dirty="0">
                <a:solidFill>
                  <a:schemeClr val="tx1"/>
                </a:solidFill>
              </a:rPr>
              <a:t>MLLM, sortie texte ou multimodale</a:t>
            </a:r>
            <a:endParaRPr lang="en-US" sz="1400" dirty="0"/>
          </a:p>
        </p:txBody>
      </p:sp>
      <p:sp>
        <p:nvSpPr>
          <p:cNvPr id="28" name="Carte 6. Évaluation"/>
          <p:cNvSpPr/>
          <p:nvPr/>
        </p:nvSpPr>
        <p:spPr>
          <a:xfrm>
            <a:off x="6126480" y="2651760"/>
            <a:ext cx="2514600" cy="1280160"/>
          </a:xfrm>
          <a:prstGeom prst="roundRect">
            <a:avLst>
              <a:gd name="adj" fmla="val 8571"/>
            </a:avLst>
          </a:prstGeom>
          <a:solidFill>
            <a:schemeClr val="bg2"/>
          </a:solidFill>
          <a:ln/>
        </p:spPr>
        <p:txBody>
          <a:bodyPr/>
          <a:lstStyle/>
          <a:p>
            <a:endParaRPr lang="fr-FR"/>
          </a:p>
        </p:txBody>
      </p:sp>
      <p:sp>
        <p:nvSpPr>
          <p:cNvPr id="29" name="Icône 6. Évaluation fond"/>
          <p:cNvSpPr/>
          <p:nvPr/>
        </p:nvSpPr>
        <p:spPr>
          <a:xfrm>
            <a:off x="6309360" y="2788920"/>
            <a:ext cx="457200" cy="457200"/>
          </a:xfrm>
          <a:prstGeom prst="ellipse">
            <a:avLst/>
          </a:prstGeom>
          <a:solidFill>
            <a:schemeClr val="accent2"/>
          </a:solidFill>
          <a:ln/>
        </p:spPr>
        <p:txBody>
          <a:bodyPr/>
          <a:lstStyle/>
          <a:p>
            <a:endParaRPr lang="fr-FR"/>
          </a:p>
        </p:txBody>
      </p:sp>
      <p:pic>
        <p:nvPicPr>
          <p:cNvPr id="30" name="Icône 6. Évaluation" descr="Icône 6. Évaluation"/>
          <p:cNvPicPr>
            <a:picLocks noChangeAspect="1"/>
          </p:cNvPicPr>
          <p:nvPr/>
        </p:nvPicPr>
        <p:blipFill>
          <a:blip r:embed="rId8"/>
          <a:stretch>
            <a:fillRect/>
          </a:stretch>
        </p:blipFill>
        <p:spPr>
          <a:xfrm>
            <a:off x="6423660" y="2903220"/>
            <a:ext cx="228600" cy="228600"/>
          </a:xfrm>
          <a:prstGeom prst="rect">
            <a:avLst/>
          </a:prstGeom>
        </p:spPr>
      </p:pic>
      <p:sp>
        <p:nvSpPr>
          <p:cNvPr id="31" name="Titre 6. Évaluation"/>
          <p:cNvSpPr txBox="1"/>
          <p:nvPr/>
        </p:nvSpPr>
        <p:spPr>
          <a:xfrm>
            <a:off x="6876288" y="2788920"/>
            <a:ext cx="1645920" cy="457200"/>
          </a:xfrm>
          <a:prstGeom prst="rect">
            <a:avLst/>
          </a:prstGeom>
          <a:noFill/>
          <a:ln/>
        </p:spPr>
        <p:txBody>
          <a:bodyPr wrap="square" lIns="0" tIns="0" rIns="0" bIns="0" rtlCol="0" anchor="ctr"/>
          <a:lstStyle/>
          <a:p>
            <a:pPr marL="0" indent="0">
              <a:buNone/>
            </a:pPr>
            <a:r>
              <a:rPr lang="en-US" sz="1500" b="1" dirty="0">
                <a:solidFill>
                  <a:schemeClr val="tx2"/>
                </a:solidFill>
              </a:rPr>
              <a:t>6. Évaluation</a:t>
            </a:r>
            <a:endParaRPr lang="en-US" sz="1500" dirty="0"/>
          </a:p>
        </p:txBody>
      </p:sp>
      <p:sp>
        <p:nvSpPr>
          <p:cNvPr id="32" name="Texte 6. Évaluation"/>
          <p:cNvSpPr txBox="1"/>
          <p:nvPr/>
        </p:nvSpPr>
        <p:spPr>
          <a:xfrm>
            <a:off x="6309360" y="3364992"/>
            <a:ext cx="2194560" cy="530352"/>
          </a:xfrm>
          <a:prstGeom prst="rect">
            <a:avLst/>
          </a:prstGeom>
          <a:noFill/>
          <a:ln/>
        </p:spPr>
        <p:txBody>
          <a:bodyPr wrap="square" lIns="0" tIns="0" rIns="0" bIns="0" rtlCol="0" anchor="t"/>
          <a:lstStyle/>
          <a:p>
            <a:pPr marL="0" indent="0">
              <a:buNone/>
            </a:pPr>
            <a:r>
              <a:rPr lang="en-US" sz="1400" dirty="0">
                <a:solidFill>
                  <a:schemeClr val="tx1"/>
                </a:solidFill>
              </a:rPr>
              <a:t>Benchmarks, écart entre modalités, coût</a:t>
            </a:r>
            <a:endParaRPr lang="en-US" sz="1400" dirty="0"/>
          </a:p>
        </p:txBody>
      </p:sp>
      <p:sp>
        <p:nvSpPr>
          <p:cNvPr id="33" name="Source"/>
          <p:cNvSpPr txBox="1"/>
          <p:nvPr/>
        </p:nvSpPr>
        <p:spPr>
          <a:xfrm>
            <a:off x="548640" y="4114800"/>
            <a:ext cx="8046720" cy="274320"/>
          </a:xfrm>
          <a:prstGeom prst="rect">
            <a:avLst/>
          </a:prstGeom>
          <a:noFill/>
          <a:ln/>
        </p:spPr>
        <p:txBody>
          <a:bodyPr wrap="square" lIns="0" tIns="0" rIns="0" bIns="0" rtlCol="0" anchor="ctr"/>
          <a:lstStyle/>
          <a:p>
            <a:pPr marL="0" indent="0">
              <a:buNone/>
            </a:pPr>
            <a:r>
              <a:rPr lang="en-US" sz="1200" i="1" dirty="0">
                <a:solidFill>
                  <a:schemeClr val="tx2"/>
                </a:solidFill>
              </a:rPr>
              <a:t>Synthèse personnelle, organisée d’après le survey de Mei et al. (2025)</a:t>
            </a:r>
            <a:endParaRPr lang="en-US" sz="1200" dirty="0"/>
          </a:p>
        </p:txBody>
      </p:sp>
      <p:sp>
        <p:nvSpPr>
          <p:cNvPr id="34"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Exemple visuel : ColPali</a:t>
            </a:r>
            <a:endParaRPr lang="en-US" sz="3000" dirty="0"/>
          </a:p>
        </p:txBody>
      </p:sp>
      <p:sp>
        <p:nvSpPr>
          <p:cNvPr id="3" name="Sous-titre"/>
          <p:cNvSpPr txBox="1"/>
          <p:nvPr/>
        </p:nvSpPr>
        <p:spPr>
          <a:xfrm>
            <a:off x="548640" y="1005840"/>
            <a:ext cx="8046720" cy="274320"/>
          </a:xfrm>
          <a:prstGeom prst="rect">
            <a:avLst/>
          </a:prstGeom>
          <a:noFill/>
          <a:ln/>
        </p:spPr>
        <p:txBody>
          <a:bodyPr wrap="square" lIns="0" tIns="0" rIns="0" bIns="0" rtlCol="0" anchor="ctr"/>
          <a:lstStyle/>
          <a:p>
            <a:pPr marL="0" indent="0">
              <a:buNone/>
            </a:pPr>
            <a:r>
              <a:rPr lang="en-US" sz="1400" i="1" dirty="0">
                <a:solidFill>
                  <a:schemeClr val="accent1"/>
                </a:solidFill>
              </a:rPr>
              <a:t>Faysse et al., 2024 — indexer l’image de la page plutôt que le texte extrait</a:t>
            </a:r>
            <a:endParaRPr lang="en-US" sz="1400" dirty="0"/>
          </a:p>
        </p:txBody>
      </p:sp>
      <p:pic>
        <p:nvPicPr>
          <p:cNvPr id="4" name="Schéma ColPali" descr="Pipeline standard et ColPali"/>
          <p:cNvPicPr>
            <a:picLocks noChangeAspect="1"/>
          </p:cNvPicPr>
          <p:nvPr/>
        </p:nvPicPr>
        <p:blipFill>
          <a:blip r:embed="rId3"/>
          <a:stretch>
            <a:fillRect/>
          </a:stretch>
        </p:blipFill>
        <p:spPr>
          <a:xfrm>
            <a:off x="548640" y="1371600"/>
            <a:ext cx="8046720" cy="2834640"/>
          </a:xfrm>
          <a:prstGeom prst="rect">
            <a:avLst/>
          </a:prstGeom>
        </p:spPr>
      </p:pic>
      <p:sp>
        <p:nvSpPr>
          <p:cNvPr id="5" name="Source schéma"/>
          <p:cNvSpPr txBox="1"/>
          <p:nvPr/>
        </p:nvSpPr>
        <p:spPr>
          <a:xfrm>
            <a:off x="548640" y="4343400"/>
            <a:ext cx="8046720" cy="256032"/>
          </a:xfrm>
          <a:prstGeom prst="rect">
            <a:avLst/>
          </a:prstGeom>
          <a:noFill/>
          <a:ln/>
        </p:spPr>
        <p:txBody>
          <a:bodyPr wrap="square" lIns="0" tIns="0" rIns="0" bIns="0" rtlCol="0" anchor="ctr"/>
          <a:lstStyle/>
          <a:p>
            <a:pPr marL="0" indent="0">
              <a:buNone/>
            </a:pPr>
            <a:r>
              <a:rPr lang="en-US" sz="1200" i="1" dirty="0">
                <a:solidFill>
                  <a:schemeClr val="tx2"/>
                </a:solidFill>
              </a:rPr>
              <a:t>Schéma redessiné d’après Faysse et al. (2024, fig. 1)</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ColPali : résultats sur ViDoRe</a:t>
            </a:r>
            <a:endParaRPr lang="en-US" sz="3000" dirty="0"/>
          </a:p>
        </p:txBody>
      </p:sp>
      <p:graphicFrame>
        <p:nvGraphicFramePr>
          <p:cNvPr id="3" name="Chart 0"/>
          <p:cNvGraphicFramePr/>
          <p:nvPr/>
        </p:nvGraphicFramePr>
        <p:xfrm>
          <a:off x="457200" y="1188720"/>
          <a:ext cx="521208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hiffre gain"/>
          <p:cNvSpPr txBox="1"/>
          <p:nvPr/>
        </p:nvSpPr>
        <p:spPr>
          <a:xfrm>
            <a:off x="5943600" y="1143000"/>
            <a:ext cx="2743200" cy="640080"/>
          </a:xfrm>
          <a:prstGeom prst="rect">
            <a:avLst/>
          </a:prstGeom>
          <a:noFill/>
          <a:ln/>
        </p:spPr>
        <p:txBody>
          <a:bodyPr wrap="square" lIns="0" tIns="0" rIns="0" bIns="0" rtlCol="0" anchor="ctr"/>
          <a:lstStyle/>
          <a:p>
            <a:pPr marL="0" indent="0">
              <a:buNone/>
            </a:pPr>
            <a:r>
              <a:rPr lang="en-US" sz="3600" b="1" dirty="0">
                <a:solidFill>
                  <a:schemeClr val="accent1"/>
                </a:solidFill>
              </a:rPr>
              <a:t>+14,3 pts</a:t>
            </a:r>
            <a:endParaRPr lang="en-US" sz="3600" dirty="0"/>
          </a:p>
        </p:txBody>
      </p:sp>
      <p:sp>
        <p:nvSpPr>
          <p:cNvPr id="5" name="Légende gain"/>
          <p:cNvSpPr txBox="1"/>
          <p:nvPr/>
        </p:nvSpPr>
        <p:spPr>
          <a:xfrm>
            <a:off x="5943600" y="1737360"/>
            <a:ext cx="2743200" cy="594360"/>
          </a:xfrm>
          <a:prstGeom prst="rect">
            <a:avLst/>
          </a:prstGeom>
          <a:noFill/>
          <a:ln/>
        </p:spPr>
        <p:txBody>
          <a:bodyPr wrap="square" lIns="0" tIns="0" rIns="0" bIns="0" rtlCol="0" anchor="t"/>
          <a:lstStyle/>
          <a:p>
            <a:pPr marL="0" indent="0">
              <a:buNone/>
            </a:pPr>
            <a:r>
              <a:rPr lang="en-US" sz="1400" dirty="0">
                <a:solidFill>
                  <a:schemeClr val="tx1"/>
                </a:solidFill>
              </a:rPr>
              <a:t>de nDCG@5 face au meilleur pipeline texte (67,0)</a:t>
            </a:r>
            <a:endParaRPr lang="en-US" sz="1400" dirty="0"/>
          </a:p>
        </p:txBody>
      </p:sp>
      <p:sp>
        <p:nvSpPr>
          <p:cNvPr id="6" name="Chiffre stockage"/>
          <p:cNvSpPr txBox="1"/>
          <p:nvPr/>
        </p:nvSpPr>
        <p:spPr>
          <a:xfrm>
            <a:off x="5943600" y="2377440"/>
            <a:ext cx="2743200" cy="640080"/>
          </a:xfrm>
          <a:prstGeom prst="rect">
            <a:avLst/>
          </a:prstGeom>
          <a:noFill/>
          <a:ln/>
        </p:spPr>
        <p:txBody>
          <a:bodyPr wrap="square" lIns="0" tIns="0" rIns="0" bIns="0" rtlCol="0" anchor="ctr"/>
          <a:lstStyle/>
          <a:p>
            <a:pPr marL="0" indent="0">
              <a:buNone/>
            </a:pPr>
            <a:r>
              <a:rPr lang="en-US" sz="3600" b="1" dirty="0">
                <a:solidFill>
                  <a:schemeClr val="accent2"/>
                </a:solidFill>
              </a:rPr>
              <a:t>≈ 257,5 Ko</a:t>
            </a:r>
            <a:endParaRPr lang="en-US" sz="3600" dirty="0"/>
          </a:p>
        </p:txBody>
      </p:sp>
      <p:sp>
        <p:nvSpPr>
          <p:cNvPr id="7" name="Légende stockage"/>
          <p:cNvSpPr txBox="1"/>
          <p:nvPr/>
        </p:nvSpPr>
        <p:spPr>
          <a:xfrm>
            <a:off x="5943600" y="2971800"/>
            <a:ext cx="2743200" cy="594360"/>
          </a:xfrm>
          <a:prstGeom prst="rect">
            <a:avLst/>
          </a:prstGeom>
          <a:noFill/>
          <a:ln/>
        </p:spPr>
        <p:txBody>
          <a:bodyPr wrap="square" lIns="0" tIns="0" rIns="0" bIns="0" rtlCol="0" anchor="t"/>
          <a:lstStyle/>
          <a:p>
            <a:pPr marL="0" indent="0">
              <a:buNone/>
            </a:pPr>
            <a:r>
              <a:rPr lang="en-US" sz="1400" dirty="0">
                <a:solidFill>
                  <a:schemeClr val="tx1"/>
                </a:solidFill>
              </a:rPr>
              <a:t>stockés par page : un vecteur par patch</a:t>
            </a:r>
            <a:endParaRPr lang="en-US" sz="1400" dirty="0"/>
          </a:p>
        </p:txBody>
      </p:sp>
      <p:sp>
        <p:nvSpPr>
          <p:cNvPr id="8" name="Bandeau late interaction"/>
          <p:cNvSpPr/>
          <p:nvPr/>
        </p:nvSpPr>
        <p:spPr>
          <a:xfrm>
            <a:off x="548640" y="3657600"/>
            <a:ext cx="8046720" cy="777240"/>
          </a:xfrm>
          <a:prstGeom prst="roundRect">
            <a:avLst>
              <a:gd name="adj" fmla="val 11765"/>
            </a:avLst>
          </a:prstGeom>
          <a:solidFill>
            <a:schemeClr val="bg2"/>
          </a:solidFill>
          <a:ln/>
        </p:spPr>
        <p:txBody>
          <a:bodyPr/>
          <a:lstStyle/>
          <a:p>
            <a:endParaRPr lang="fr-FR"/>
          </a:p>
        </p:txBody>
      </p:sp>
      <p:sp>
        <p:nvSpPr>
          <p:cNvPr id="9" name="Libellé late interaction"/>
          <p:cNvSpPr txBox="1"/>
          <p:nvPr/>
        </p:nvSpPr>
        <p:spPr>
          <a:xfrm>
            <a:off x="685800" y="365760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Late interaction</a:t>
            </a:r>
            <a:endParaRPr lang="en-US" sz="1400" dirty="0"/>
          </a:p>
        </p:txBody>
      </p:sp>
      <p:sp>
        <p:nvSpPr>
          <p:cNvPr id="10" name="Zone late interaction"/>
          <p:cNvSpPr/>
          <p:nvPr/>
        </p:nvSpPr>
        <p:spPr>
          <a:xfrm>
            <a:off x="2560320" y="3703320"/>
            <a:ext cx="5943600" cy="685800"/>
          </a:xfrm>
          <a:prstGeom prst="roundRect">
            <a:avLst>
              <a:gd name="adj" fmla="val 10667"/>
            </a:avLst>
          </a:prstGeom>
          <a:solidFill>
            <a:schemeClr val="bg1"/>
          </a:solidFill>
          <a:ln/>
        </p:spPr>
        <p:txBody>
          <a:bodyPr/>
          <a:lstStyle/>
          <a:p>
            <a:endParaRPr lang="fr-FR"/>
          </a:p>
        </p:txBody>
      </p:sp>
      <p:pic>
        <p:nvPicPr>
          <p:cNvPr id="11" name="Formule Late interaction" descr="Formule : Late interaction"/>
          <p:cNvPicPr>
            <a:picLocks noChangeAspect="1"/>
          </p:cNvPicPr>
          <p:nvPr/>
        </p:nvPicPr>
        <p:blipFill>
          <a:blip r:embed="rId4"/>
          <a:stretch>
            <a:fillRect/>
          </a:stretch>
        </p:blipFill>
        <p:spPr>
          <a:xfrm>
            <a:off x="4136083" y="3730752"/>
            <a:ext cx="2792073" cy="630936"/>
          </a:xfrm>
          <a:prstGeom prst="rect">
            <a:avLst/>
          </a:prstGeom>
        </p:spPr>
      </p:pic>
      <p:sp>
        <p:nvSpPr>
          <p:cNvPr id="12" name="Source"/>
          <p:cNvSpPr txBox="1"/>
          <p:nvPr/>
        </p:nvSpPr>
        <p:spPr>
          <a:xfrm>
            <a:off x="548640" y="4480560"/>
            <a:ext cx="8046720" cy="219456"/>
          </a:xfrm>
          <a:prstGeom prst="rect">
            <a:avLst/>
          </a:prstGeom>
          <a:noFill/>
          <a:ln/>
        </p:spPr>
        <p:txBody>
          <a:bodyPr wrap="square" lIns="0" tIns="0" rIns="0" bIns="0" rtlCol="0" anchor="ctr"/>
          <a:lstStyle/>
          <a:p>
            <a:pPr marL="0" indent="0">
              <a:buNone/>
            </a:pPr>
            <a:r>
              <a:rPr lang="en-US" sz="1000" i="1" dirty="0">
                <a:solidFill>
                  <a:schemeClr val="tx2"/>
                </a:solidFill>
              </a:rPr>
              <a:t>Source : Faysse et al. (2024), tableau 2.</a:t>
            </a:r>
            <a:endParaRPr lang="en-US" sz="10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Cas concret : CXR-RePaiR-Gen</a:t>
            </a:r>
            <a:endParaRPr lang="en-US" sz="3000" dirty="0"/>
          </a:p>
        </p:txBody>
      </p:sp>
      <p:sp>
        <p:nvSpPr>
          <p:cNvPr id="3" name="Sous-titre"/>
          <p:cNvSpPr txBox="1"/>
          <p:nvPr/>
        </p:nvSpPr>
        <p:spPr>
          <a:xfrm>
            <a:off x="548640" y="1024128"/>
            <a:ext cx="8046720" cy="274320"/>
          </a:xfrm>
          <a:prstGeom prst="rect">
            <a:avLst/>
          </a:prstGeom>
          <a:noFill/>
          <a:ln/>
        </p:spPr>
        <p:txBody>
          <a:bodyPr wrap="square" lIns="0" tIns="0" rIns="0" bIns="0" rtlCol="0" anchor="ctr"/>
          <a:lstStyle/>
          <a:p>
            <a:pPr marL="0" indent="0">
              <a:buNone/>
            </a:pPr>
            <a:r>
              <a:rPr lang="en-US" sz="1400" i="1" dirty="0">
                <a:solidFill>
                  <a:schemeClr val="accent1"/>
                </a:solidFill>
              </a:rPr>
              <a:t>Ranjit et al., 2023 — schéma adapté de la fig. 1 de l’article</a:t>
            </a:r>
            <a:endParaRPr lang="en-US" sz="1400" dirty="0"/>
          </a:p>
        </p:txBody>
      </p:sp>
      <p:sp>
        <p:nvSpPr>
          <p:cNvPr id="4" name="Étape 1"/>
          <p:cNvSpPr/>
          <p:nvPr/>
        </p:nvSpPr>
        <p:spPr>
          <a:xfrm>
            <a:off x="548640" y="1463040"/>
            <a:ext cx="1325880" cy="1097280"/>
          </a:xfrm>
          <a:prstGeom prst="roundRect">
            <a:avLst>
              <a:gd name="adj" fmla="val 8333"/>
            </a:avLst>
          </a:prstGeom>
          <a:solidFill>
            <a:srgbClr val="028090"/>
          </a:solidFill>
          <a:ln/>
        </p:spPr>
        <p:txBody>
          <a:bodyPr/>
          <a:lstStyle/>
          <a:p>
            <a:endParaRPr lang="fr-FR"/>
          </a:p>
        </p:txBody>
      </p:sp>
      <p:pic>
        <p:nvPicPr>
          <p:cNvPr id="5" name="Icône étape 1" descr="Radio"/>
          <p:cNvPicPr>
            <a:picLocks noChangeAspect="1"/>
          </p:cNvPicPr>
          <p:nvPr/>
        </p:nvPicPr>
        <p:blipFill>
          <a:blip r:embed="rId3"/>
          <a:stretch>
            <a:fillRect/>
          </a:stretch>
        </p:blipFill>
        <p:spPr>
          <a:xfrm>
            <a:off x="1037844" y="1554480"/>
            <a:ext cx="347472" cy="347472"/>
          </a:xfrm>
          <a:prstGeom prst="rect">
            <a:avLst/>
          </a:prstGeom>
        </p:spPr>
      </p:pic>
      <p:sp>
        <p:nvSpPr>
          <p:cNvPr id="6" name="Libellé étape 1"/>
          <p:cNvSpPr txBox="1"/>
          <p:nvPr/>
        </p:nvSpPr>
        <p:spPr>
          <a:xfrm>
            <a:off x="594360" y="1938528"/>
            <a:ext cx="1234440" cy="566928"/>
          </a:xfrm>
          <a:prstGeom prst="rect">
            <a:avLst/>
          </a:prstGeom>
          <a:noFill/>
          <a:ln/>
        </p:spPr>
        <p:txBody>
          <a:bodyPr wrap="square" lIns="0" tIns="0" rIns="0" bIns="0" rtlCol="0" anchor="ctr"/>
          <a:lstStyle/>
          <a:p>
            <a:pPr marL="0" indent="0" algn="ctr">
              <a:buNone/>
            </a:pPr>
            <a:r>
              <a:rPr lang="en-US" sz="1400" b="1" dirty="0">
                <a:solidFill>
                  <a:schemeClr val="bg1"/>
                </a:solidFill>
              </a:rPr>
              <a:t>Radio</a:t>
            </a:r>
            <a:endParaRPr lang="en-US" sz="1400" dirty="0"/>
          </a:p>
        </p:txBody>
      </p:sp>
      <p:sp>
        <p:nvSpPr>
          <p:cNvPr id="7" name="Flèche 1"/>
          <p:cNvSpPr/>
          <p:nvPr/>
        </p:nvSpPr>
        <p:spPr>
          <a:xfrm>
            <a:off x="1929384" y="1892808"/>
            <a:ext cx="237744" cy="237744"/>
          </a:xfrm>
          <a:prstGeom prst="rightArrow">
            <a:avLst/>
          </a:prstGeom>
          <a:solidFill>
            <a:srgbClr val="1B2A33"/>
          </a:solidFill>
          <a:ln/>
        </p:spPr>
        <p:txBody>
          <a:bodyPr/>
          <a:lstStyle/>
          <a:p>
            <a:endParaRPr lang="fr-FR"/>
          </a:p>
        </p:txBody>
      </p:sp>
      <p:sp>
        <p:nvSpPr>
          <p:cNvPr id="8" name="Étape 2"/>
          <p:cNvSpPr/>
          <p:nvPr/>
        </p:nvSpPr>
        <p:spPr>
          <a:xfrm>
            <a:off x="2217420" y="1463040"/>
            <a:ext cx="1325880" cy="1097280"/>
          </a:xfrm>
          <a:prstGeom prst="roundRect">
            <a:avLst>
              <a:gd name="adj" fmla="val 8333"/>
            </a:avLst>
          </a:prstGeom>
          <a:solidFill>
            <a:srgbClr val="028090"/>
          </a:solidFill>
          <a:ln/>
        </p:spPr>
        <p:txBody>
          <a:bodyPr/>
          <a:lstStyle/>
          <a:p>
            <a:endParaRPr lang="fr-FR"/>
          </a:p>
        </p:txBody>
      </p:sp>
      <p:pic>
        <p:nvPicPr>
          <p:cNvPr id="9" name="Icône étape 2" descr="Encodeur ALBEF"/>
          <p:cNvPicPr>
            <a:picLocks noChangeAspect="1"/>
          </p:cNvPicPr>
          <p:nvPr/>
        </p:nvPicPr>
        <p:blipFill>
          <a:blip r:embed="rId4"/>
          <a:stretch>
            <a:fillRect/>
          </a:stretch>
        </p:blipFill>
        <p:spPr>
          <a:xfrm>
            <a:off x="2706624" y="1554480"/>
            <a:ext cx="347472" cy="347472"/>
          </a:xfrm>
          <a:prstGeom prst="rect">
            <a:avLst/>
          </a:prstGeom>
        </p:spPr>
      </p:pic>
      <p:sp>
        <p:nvSpPr>
          <p:cNvPr id="10" name="Libellé étape 2"/>
          <p:cNvSpPr txBox="1"/>
          <p:nvPr/>
        </p:nvSpPr>
        <p:spPr>
          <a:xfrm>
            <a:off x="2263140" y="1938528"/>
            <a:ext cx="1234440" cy="566928"/>
          </a:xfrm>
          <a:prstGeom prst="rect">
            <a:avLst/>
          </a:prstGeom>
          <a:noFill/>
          <a:ln/>
        </p:spPr>
        <p:txBody>
          <a:bodyPr wrap="square" lIns="0" tIns="0" rIns="0" bIns="0" rtlCol="0" anchor="ctr"/>
          <a:lstStyle/>
          <a:p>
            <a:pPr marL="0" indent="0" algn="ctr">
              <a:buNone/>
            </a:pPr>
            <a:r>
              <a:rPr lang="en-US" sz="1400" b="1" dirty="0">
                <a:solidFill>
                  <a:schemeClr val="bg1"/>
                </a:solidFill>
              </a:rPr>
              <a:t>Encodeur ALBEF</a:t>
            </a:r>
            <a:endParaRPr lang="en-US" sz="1400" dirty="0"/>
          </a:p>
        </p:txBody>
      </p:sp>
      <p:sp>
        <p:nvSpPr>
          <p:cNvPr id="11" name="Flèche 2"/>
          <p:cNvSpPr/>
          <p:nvPr/>
        </p:nvSpPr>
        <p:spPr>
          <a:xfrm>
            <a:off x="3598164" y="1892808"/>
            <a:ext cx="237744" cy="237744"/>
          </a:xfrm>
          <a:prstGeom prst="rightArrow">
            <a:avLst/>
          </a:prstGeom>
          <a:solidFill>
            <a:srgbClr val="1B2A33"/>
          </a:solidFill>
          <a:ln/>
        </p:spPr>
        <p:txBody>
          <a:bodyPr/>
          <a:lstStyle/>
          <a:p>
            <a:endParaRPr lang="fr-FR"/>
          </a:p>
        </p:txBody>
      </p:sp>
      <p:sp>
        <p:nvSpPr>
          <p:cNvPr id="12" name="Étape 3"/>
          <p:cNvSpPr/>
          <p:nvPr/>
        </p:nvSpPr>
        <p:spPr>
          <a:xfrm>
            <a:off x="3886200" y="1463040"/>
            <a:ext cx="1325880" cy="1097280"/>
          </a:xfrm>
          <a:prstGeom prst="roundRect">
            <a:avLst>
              <a:gd name="adj" fmla="val 8333"/>
            </a:avLst>
          </a:prstGeom>
          <a:solidFill>
            <a:srgbClr val="028090"/>
          </a:solidFill>
          <a:ln/>
        </p:spPr>
        <p:txBody>
          <a:bodyPr/>
          <a:lstStyle/>
          <a:p>
            <a:endParaRPr lang="fr-FR"/>
          </a:p>
        </p:txBody>
      </p:sp>
      <p:pic>
        <p:nvPicPr>
          <p:cNvPr id="13" name="Icône étape 3" descr="Top-K phrases"/>
          <p:cNvPicPr>
            <a:picLocks noChangeAspect="1"/>
          </p:cNvPicPr>
          <p:nvPr/>
        </p:nvPicPr>
        <p:blipFill>
          <a:blip r:embed="rId5"/>
          <a:stretch>
            <a:fillRect/>
          </a:stretch>
        </p:blipFill>
        <p:spPr>
          <a:xfrm>
            <a:off x="4375404" y="1554480"/>
            <a:ext cx="347472" cy="347472"/>
          </a:xfrm>
          <a:prstGeom prst="rect">
            <a:avLst/>
          </a:prstGeom>
        </p:spPr>
      </p:pic>
      <p:sp>
        <p:nvSpPr>
          <p:cNvPr id="14" name="Libellé étape 3"/>
          <p:cNvSpPr txBox="1"/>
          <p:nvPr/>
        </p:nvSpPr>
        <p:spPr>
          <a:xfrm>
            <a:off x="3931920" y="1938528"/>
            <a:ext cx="1234440" cy="566928"/>
          </a:xfrm>
          <a:prstGeom prst="rect">
            <a:avLst/>
          </a:prstGeom>
          <a:noFill/>
          <a:ln/>
        </p:spPr>
        <p:txBody>
          <a:bodyPr wrap="square" lIns="0" tIns="0" rIns="0" bIns="0" rtlCol="0" anchor="ctr"/>
          <a:lstStyle/>
          <a:p>
            <a:pPr marL="0" indent="0" algn="ctr">
              <a:buNone/>
            </a:pPr>
            <a:r>
              <a:rPr lang="en-US" sz="1400" b="1" dirty="0">
                <a:solidFill>
                  <a:schemeClr val="bg1"/>
                </a:solidFill>
              </a:rPr>
              <a:t>Top-K phrases</a:t>
            </a:r>
            <a:endParaRPr lang="en-US" sz="1400" dirty="0"/>
          </a:p>
        </p:txBody>
      </p:sp>
      <p:sp>
        <p:nvSpPr>
          <p:cNvPr id="15" name="Flèche 3"/>
          <p:cNvSpPr/>
          <p:nvPr/>
        </p:nvSpPr>
        <p:spPr>
          <a:xfrm>
            <a:off x="5266944" y="1892808"/>
            <a:ext cx="237744" cy="237744"/>
          </a:xfrm>
          <a:prstGeom prst="rightArrow">
            <a:avLst/>
          </a:prstGeom>
          <a:solidFill>
            <a:srgbClr val="1B2A33"/>
          </a:solidFill>
          <a:ln/>
        </p:spPr>
        <p:txBody>
          <a:bodyPr/>
          <a:lstStyle/>
          <a:p>
            <a:endParaRPr lang="fr-FR"/>
          </a:p>
        </p:txBody>
      </p:sp>
      <p:sp>
        <p:nvSpPr>
          <p:cNvPr id="16" name="Étape 4"/>
          <p:cNvSpPr/>
          <p:nvPr/>
        </p:nvSpPr>
        <p:spPr>
          <a:xfrm>
            <a:off x="5554980" y="1463040"/>
            <a:ext cx="1325880" cy="1097280"/>
          </a:xfrm>
          <a:prstGeom prst="roundRect">
            <a:avLst>
              <a:gd name="adj" fmla="val 8333"/>
            </a:avLst>
          </a:prstGeom>
          <a:solidFill>
            <a:srgbClr val="D9623B"/>
          </a:solidFill>
          <a:ln/>
        </p:spPr>
        <p:txBody>
          <a:bodyPr/>
          <a:lstStyle/>
          <a:p>
            <a:endParaRPr lang="fr-FR"/>
          </a:p>
        </p:txBody>
      </p:sp>
      <p:pic>
        <p:nvPicPr>
          <p:cNvPr id="17" name="Icône étape 4" descr="Prompt + LLM"/>
          <p:cNvPicPr>
            <a:picLocks noChangeAspect="1"/>
          </p:cNvPicPr>
          <p:nvPr/>
        </p:nvPicPr>
        <p:blipFill>
          <a:blip r:embed="rId6"/>
          <a:stretch>
            <a:fillRect/>
          </a:stretch>
        </p:blipFill>
        <p:spPr>
          <a:xfrm>
            <a:off x="6044184" y="1554480"/>
            <a:ext cx="347472" cy="347472"/>
          </a:xfrm>
          <a:prstGeom prst="rect">
            <a:avLst/>
          </a:prstGeom>
        </p:spPr>
      </p:pic>
      <p:sp>
        <p:nvSpPr>
          <p:cNvPr id="18" name="Libellé étape 4"/>
          <p:cNvSpPr txBox="1"/>
          <p:nvPr/>
        </p:nvSpPr>
        <p:spPr>
          <a:xfrm>
            <a:off x="5600700" y="1938528"/>
            <a:ext cx="1234440" cy="566928"/>
          </a:xfrm>
          <a:prstGeom prst="rect">
            <a:avLst/>
          </a:prstGeom>
          <a:noFill/>
          <a:ln/>
        </p:spPr>
        <p:txBody>
          <a:bodyPr wrap="square" lIns="0" tIns="0" rIns="0" bIns="0" rtlCol="0" anchor="ctr"/>
          <a:lstStyle/>
          <a:p>
            <a:pPr marL="0" indent="0" algn="ctr">
              <a:buNone/>
            </a:pPr>
            <a:r>
              <a:rPr lang="en-US" sz="1400" b="1" dirty="0">
                <a:solidFill>
                  <a:schemeClr val="bg1"/>
                </a:solidFill>
              </a:rPr>
              <a:t>Prompt + LLM</a:t>
            </a:r>
            <a:endParaRPr lang="en-US" sz="1400" dirty="0"/>
          </a:p>
        </p:txBody>
      </p:sp>
      <p:sp>
        <p:nvSpPr>
          <p:cNvPr id="19" name="Flèche 4"/>
          <p:cNvSpPr/>
          <p:nvPr/>
        </p:nvSpPr>
        <p:spPr>
          <a:xfrm>
            <a:off x="6935724" y="1892808"/>
            <a:ext cx="237744" cy="237744"/>
          </a:xfrm>
          <a:prstGeom prst="rightArrow">
            <a:avLst/>
          </a:prstGeom>
          <a:solidFill>
            <a:srgbClr val="1B2A33"/>
          </a:solidFill>
          <a:ln/>
        </p:spPr>
        <p:txBody>
          <a:bodyPr/>
          <a:lstStyle/>
          <a:p>
            <a:endParaRPr lang="fr-FR"/>
          </a:p>
        </p:txBody>
      </p:sp>
      <p:sp>
        <p:nvSpPr>
          <p:cNvPr id="20" name="Étape 5"/>
          <p:cNvSpPr/>
          <p:nvPr/>
        </p:nvSpPr>
        <p:spPr>
          <a:xfrm>
            <a:off x="7223760" y="1463040"/>
            <a:ext cx="1325880" cy="1097280"/>
          </a:xfrm>
          <a:prstGeom prst="roundRect">
            <a:avLst>
              <a:gd name="adj" fmla="val 8333"/>
            </a:avLst>
          </a:prstGeom>
          <a:solidFill>
            <a:srgbClr val="D9623B"/>
          </a:solidFill>
          <a:ln/>
        </p:spPr>
        <p:txBody>
          <a:bodyPr/>
          <a:lstStyle/>
          <a:p>
            <a:endParaRPr lang="fr-FR"/>
          </a:p>
        </p:txBody>
      </p:sp>
      <p:pic>
        <p:nvPicPr>
          <p:cNvPr id="21" name="Icône étape 5" descr="Impression"/>
          <p:cNvPicPr>
            <a:picLocks noChangeAspect="1"/>
          </p:cNvPicPr>
          <p:nvPr/>
        </p:nvPicPr>
        <p:blipFill>
          <a:blip r:embed="rId7"/>
          <a:stretch>
            <a:fillRect/>
          </a:stretch>
        </p:blipFill>
        <p:spPr>
          <a:xfrm>
            <a:off x="7712964" y="1554480"/>
            <a:ext cx="347472" cy="347472"/>
          </a:xfrm>
          <a:prstGeom prst="rect">
            <a:avLst/>
          </a:prstGeom>
        </p:spPr>
      </p:pic>
      <p:sp>
        <p:nvSpPr>
          <p:cNvPr id="22" name="Libellé étape 5"/>
          <p:cNvSpPr txBox="1"/>
          <p:nvPr/>
        </p:nvSpPr>
        <p:spPr>
          <a:xfrm>
            <a:off x="7269480" y="1938528"/>
            <a:ext cx="1234440" cy="566928"/>
          </a:xfrm>
          <a:prstGeom prst="rect">
            <a:avLst/>
          </a:prstGeom>
          <a:noFill/>
          <a:ln/>
        </p:spPr>
        <p:txBody>
          <a:bodyPr wrap="square" lIns="0" tIns="0" rIns="0" bIns="0" rtlCol="0" anchor="ctr"/>
          <a:lstStyle/>
          <a:p>
            <a:pPr marL="0" indent="0" algn="ctr">
              <a:buNone/>
            </a:pPr>
            <a:r>
              <a:rPr lang="en-US" sz="1400" b="1" dirty="0">
                <a:solidFill>
                  <a:schemeClr val="bg1"/>
                </a:solidFill>
              </a:rPr>
              <a:t>Impression</a:t>
            </a:r>
            <a:endParaRPr lang="en-US" sz="1400" dirty="0"/>
          </a:p>
        </p:txBody>
      </p:sp>
      <p:sp>
        <p:nvSpPr>
          <p:cNvPr id="23" name="Repère multimodal"/>
          <p:cNvSpPr/>
          <p:nvPr/>
        </p:nvSpPr>
        <p:spPr>
          <a:xfrm>
            <a:off x="548640" y="2724912"/>
            <a:ext cx="4663440" cy="0"/>
          </a:xfrm>
          <a:prstGeom prst="line">
            <a:avLst/>
          </a:prstGeom>
          <a:noFill/>
          <a:ln w="19050">
            <a:solidFill>
              <a:schemeClr val="accent1"/>
            </a:solidFill>
            <a:prstDash val="solid"/>
          </a:ln>
        </p:spPr>
        <p:txBody>
          <a:bodyPr/>
          <a:lstStyle/>
          <a:p>
            <a:endParaRPr lang="fr-FR"/>
          </a:p>
        </p:txBody>
      </p:sp>
      <p:sp>
        <p:nvSpPr>
          <p:cNvPr id="24" name="Légende multimodal"/>
          <p:cNvSpPr txBox="1"/>
          <p:nvPr/>
        </p:nvSpPr>
        <p:spPr>
          <a:xfrm>
            <a:off x="548640" y="2761488"/>
            <a:ext cx="4663440" cy="256032"/>
          </a:xfrm>
          <a:prstGeom prst="rect">
            <a:avLst/>
          </a:prstGeom>
          <a:noFill/>
          <a:ln/>
        </p:spPr>
        <p:txBody>
          <a:bodyPr wrap="square" lIns="0" tIns="0" rIns="0" bIns="0" rtlCol="0" anchor="ctr"/>
          <a:lstStyle/>
          <a:p>
            <a:pPr marL="0" indent="0" algn="ctr">
              <a:buNone/>
            </a:pPr>
            <a:r>
              <a:rPr lang="en-US" sz="1200" i="1" dirty="0">
                <a:solidFill>
                  <a:schemeClr val="accent1"/>
                </a:solidFill>
              </a:rPr>
              <a:t>partie multimodale : image → texte</a:t>
            </a:r>
            <a:endParaRPr lang="en-US" sz="1200" dirty="0"/>
          </a:p>
        </p:txBody>
      </p:sp>
      <p:sp>
        <p:nvSpPr>
          <p:cNvPr id="25" name="Repère génératif"/>
          <p:cNvSpPr/>
          <p:nvPr/>
        </p:nvSpPr>
        <p:spPr>
          <a:xfrm>
            <a:off x="5554980" y="2724912"/>
            <a:ext cx="2994660" cy="0"/>
          </a:xfrm>
          <a:prstGeom prst="line">
            <a:avLst/>
          </a:prstGeom>
          <a:noFill/>
          <a:ln w="19050">
            <a:solidFill>
              <a:schemeClr val="accent2"/>
            </a:solidFill>
            <a:prstDash val="solid"/>
          </a:ln>
        </p:spPr>
        <p:txBody>
          <a:bodyPr/>
          <a:lstStyle/>
          <a:p>
            <a:endParaRPr lang="fr-FR"/>
          </a:p>
        </p:txBody>
      </p:sp>
      <p:sp>
        <p:nvSpPr>
          <p:cNvPr id="26" name="Légende génératif"/>
          <p:cNvSpPr txBox="1"/>
          <p:nvPr/>
        </p:nvSpPr>
        <p:spPr>
          <a:xfrm>
            <a:off x="5372100" y="2761488"/>
            <a:ext cx="3360420" cy="256032"/>
          </a:xfrm>
          <a:prstGeom prst="rect">
            <a:avLst/>
          </a:prstGeom>
          <a:noFill/>
          <a:ln/>
        </p:spPr>
        <p:txBody>
          <a:bodyPr wrap="square" lIns="0" tIns="0" rIns="0" bIns="0" rtlCol="0" anchor="ctr"/>
          <a:lstStyle/>
          <a:p>
            <a:pPr marL="0" indent="0" algn="ctr">
              <a:buNone/>
            </a:pPr>
            <a:r>
              <a:rPr lang="en-US" sz="1200" i="1" dirty="0">
                <a:solidFill>
                  <a:schemeClr val="accent2"/>
                </a:solidFill>
              </a:rPr>
              <a:t>partie générative : texte → texte</a:t>
            </a:r>
            <a:endParaRPr lang="en-US" sz="1200" dirty="0"/>
          </a:p>
        </p:txBody>
      </p:sp>
      <p:sp>
        <p:nvSpPr>
          <p:cNvPr id="27" name="Chiffre 1"/>
          <p:cNvSpPr txBox="1"/>
          <p:nvPr/>
        </p:nvSpPr>
        <p:spPr>
          <a:xfrm>
            <a:off x="548640" y="3246120"/>
            <a:ext cx="2286000" cy="548640"/>
          </a:xfrm>
          <a:prstGeom prst="rect">
            <a:avLst/>
          </a:prstGeom>
          <a:noFill/>
          <a:ln/>
        </p:spPr>
        <p:txBody>
          <a:bodyPr wrap="square" lIns="0" tIns="0" rIns="0" bIns="0" rtlCol="0" anchor="ctr"/>
          <a:lstStyle/>
          <a:p>
            <a:pPr marL="0" indent="0">
              <a:buNone/>
            </a:pPr>
            <a:r>
              <a:rPr lang="en-US" sz="3200" b="1" dirty="0">
                <a:solidFill>
                  <a:schemeClr val="accent1"/>
                </a:solidFill>
              </a:rPr>
              <a:t>374 139</a:t>
            </a:r>
            <a:endParaRPr lang="en-US" sz="3200" dirty="0"/>
          </a:p>
        </p:txBody>
      </p:sp>
      <p:sp>
        <p:nvSpPr>
          <p:cNvPr id="28" name="Légende chiffre 1"/>
          <p:cNvSpPr txBox="1"/>
          <p:nvPr/>
        </p:nvSpPr>
        <p:spPr>
          <a:xfrm>
            <a:off x="548640" y="3822192"/>
            <a:ext cx="2286000" cy="594360"/>
          </a:xfrm>
          <a:prstGeom prst="rect">
            <a:avLst/>
          </a:prstGeom>
          <a:noFill/>
          <a:ln/>
        </p:spPr>
        <p:txBody>
          <a:bodyPr wrap="square" lIns="0" tIns="0" rIns="0" bIns="0" rtlCol="0" anchor="t"/>
          <a:lstStyle/>
          <a:p>
            <a:pPr marL="0" indent="0">
              <a:buNone/>
            </a:pPr>
            <a:r>
              <a:rPr lang="en-US" sz="1400" dirty="0">
                <a:solidFill>
                  <a:schemeClr val="tx1"/>
                </a:solidFill>
              </a:rPr>
              <a:t>rapports dans la base CXR‑PRO</a:t>
            </a:r>
            <a:endParaRPr lang="en-US" sz="1400" dirty="0"/>
          </a:p>
        </p:txBody>
      </p:sp>
      <p:sp>
        <p:nvSpPr>
          <p:cNvPr id="29" name="Chiffre 2"/>
          <p:cNvSpPr txBox="1"/>
          <p:nvPr/>
        </p:nvSpPr>
        <p:spPr>
          <a:xfrm>
            <a:off x="3429000" y="3246120"/>
            <a:ext cx="2286000" cy="548640"/>
          </a:xfrm>
          <a:prstGeom prst="rect">
            <a:avLst/>
          </a:prstGeom>
          <a:noFill/>
          <a:ln/>
        </p:spPr>
        <p:txBody>
          <a:bodyPr wrap="square" lIns="0" tIns="0" rIns="0" bIns="0" rtlCol="0" anchor="ctr"/>
          <a:lstStyle/>
          <a:p>
            <a:pPr marL="0" indent="0">
              <a:buNone/>
            </a:pPr>
            <a:r>
              <a:rPr lang="en-US" sz="3200" b="1" dirty="0">
                <a:solidFill>
                  <a:schemeClr val="accent1"/>
                </a:solidFill>
              </a:rPr>
              <a:t>K = 1 à 3</a:t>
            </a:r>
            <a:endParaRPr lang="en-US" sz="3200" dirty="0"/>
          </a:p>
        </p:txBody>
      </p:sp>
      <p:sp>
        <p:nvSpPr>
          <p:cNvPr id="30" name="Légende chiffre 2"/>
          <p:cNvSpPr txBox="1"/>
          <p:nvPr/>
        </p:nvSpPr>
        <p:spPr>
          <a:xfrm>
            <a:off x="3429000" y="3822192"/>
            <a:ext cx="2286000" cy="594360"/>
          </a:xfrm>
          <a:prstGeom prst="rect">
            <a:avLst/>
          </a:prstGeom>
          <a:noFill/>
          <a:ln/>
        </p:spPr>
        <p:txBody>
          <a:bodyPr wrap="square" lIns="0" tIns="0" rIns="0" bIns="0" rtlCol="0" anchor="t"/>
          <a:lstStyle/>
          <a:p>
            <a:pPr marL="0" indent="0">
              <a:buNone/>
            </a:pPr>
            <a:r>
              <a:rPr lang="en-US" sz="1400" dirty="0">
                <a:solidFill>
                  <a:schemeClr val="tx1"/>
                </a:solidFill>
              </a:rPr>
              <a:t>phrases récupérées par radio</a:t>
            </a:r>
            <a:endParaRPr lang="en-US" sz="1400" dirty="0"/>
          </a:p>
        </p:txBody>
      </p:sp>
      <p:sp>
        <p:nvSpPr>
          <p:cNvPr id="31" name="Chiffre 3"/>
          <p:cNvSpPr txBox="1"/>
          <p:nvPr/>
        </p:nvSpPr>
        <p:spPr>
          <a:xfrm>
            <a:off x="6309360" y="3246120"/>
            <a:ext cx="2286000" cy="548640"/>
          </a:xfrm>
          <a:prstGeom prst="rect">
            <a:avLst/>
          </a:prstGeom>
          <a:noFill/>
          <a:ln/>
        </p:spPr>
        <p:txBody>
          <a:bodyPr wrap="square" lIns="0" tIns="0" rIns="0" bIns="0" rtlCol="0" anchor="ctr"/>
          <a:lstStyle/>
          <a:p>
            <a:pPr marL="0" indent="0">
              <a:buNone/>
            </a:pPr>
            <a:r>
              <a:rPr lang="en-US" sz="3200" b="1" dirty="0">
                <a:solidFill>
                  <a:schemeClr val="accent1"/>
                </a:solidFill>
              </a:rPr>
              <a:t>3 LLM</a:t>
            </a:r>
            <a:endParaRPr lang="en-US" sz="3200" dirty="0"/>
          </a:p>
        </p:txBody>
      </p:sp>
      <p:sp>
        <p:nvSpPr>
          <p:cNvPr id="32" name="Légende chiffre 3"/>
          <p:cNvSpPr txBox="1"/>
          <p:nvPr/>
        </p:nvSpPr>
        <p:spPr>
          <a:xfrm>
            <a:off x="6309360" y="3822192"/>
            <a:ext cx="2286000" cy="594360"/>
          </a:xfrm>
          <a:prstGeom prst="rect">
            <a:avLst/>
          </a:prstGeom>
          <a:noFill/>
          <a:ln/>
        </p:spPr>
        <p:txBody>
          <a:bodyPr wrap="square" lIns="0" tIns="0" rIns="0" bIns="0" rtlCol="0" anchor="t"/>
          <a:lstStyle/>
          <a:p>
            <a:pPr marL="0" indent="0">
              <a:buNone/>
            </a:pPr>
            <a:r>
              <a:rPr lang="en-US" sz="1400" dirty="0">
                <a:solidFill>
                  <a:schemeClr val="tx1"/>
                </a:solidFill>
              </a:rPr>
              <a:t>davinci-003, GPT-3.5, GPT-4</a:t>
            </a:r>
            <a:endParaRPr lang="en-US" sz="1400" dirty="0"/>
          </a:p>
        </p:txBody>
      </p:sp>
      <p:sp>
        <p:nvSpPr>
          <p:cNvPr id="33"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Résultats : un gain en similarité sémantique</a:t>
            </a:r>
            <a:endParaRPr lang="en-US" sz="3000" dirty="0"/>
          </a:p>
        </p:txBody>
      </p:sp>
      <p:graphicFrame>
        <p:nvGraphicFramePr>
          <p:cNvPr id="3" name="Chart 0"/>
          <p:cNvGraphicFramePr/>
          <p:nvPr/>
        </p:nvGraphicFramePr>
        <p:xfrm>
          <a:off x="457200" y="1234440"/>
          <a:ext cx="539496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4" name="Chiffre BERTScore"/>
          <p:cNvSpPr txBox="1"/>
          <p:nvPr/>
        </p:nvSpPr>
        <p:spPr>
          <a:xfrm>
            <a:off x="6126480" y="1280160"/>
            <a:ext cx="2560320" cy="731520"/>
          </a:xfrm>
          <a:prstGeom prst="rect">
            <a:avLst/>
          </a:prstGeom>
          <a:noFill/>
          <a:ln/>
        </p:spPr>
        <p:txBody>
          <a:bodyPr wrap="square" lIns="0" tIns="0" rIns="0" bIns="0" rtlCol="0" anchor="ctr"/>
          <a:lstStyle/>
          <a:p>
            <a:pPr marL="0" indent="0">
              <a:buNone/>
            </a:pPr>
            <a:r>
              <a:rPr lang="en-US" sz="4400" b="1" dirty="0">
                <a:solidFill>
                  <a:schemeClr val="accent1"/>
                </a:solidFill>
              </a:rPr>
              <a:t>+25,9 %</a:t>
            </a:r>
            <a:endParaRPr lang="en-US" sz="4400" dirty="0"/>
          </a:p>
        </p:txBody>
      </p:sp>
      <p:sp>
        <p:nvSpPr>
          <p:cNvPr id="5" name="Légende BERTScore"/>
          <p:cNvSpPr txBox="1"/>
          <p:nvPr/>
        </p:nvSpPr>
        <p:spPr>
          <a:xfrm>
            <a:off x="6126480" y="2011680"/>
            <a:ext cx="2560320" cy="731520"/>
          </a:xfrm>
          <a:prstGeom prst="rect">
            <a:avLst/>
          </a:prstGeom>
          <a:noFill/>
          <a:ln/>
        </p:spPr>
        <p:txBody>
          <a:bodyPr wrap="square" lIns="0" tIns="0" rIns="0" bIns="0" rtlCol="0" anchor="t"/>
          <a:lstStyle/>
          <a:p>
            <a:pPr marL="0" indent="0">
              <a:buNone/>
            </a:pPr>
            <a:r>
              <a:rPr lang="en-US" sz="1400" dirty="0">
                <a:solidFill>
                  <a:schemeClr val="tx1"/>
                </a:solidFill>
              </a:rPr>
              <a:t>de BERTScore avec GPT-4 par rapport à la récupération seule</a:t>
            </a:r>
            <a:endParaRPr lang="en-US" sz="1400" dirty="0"/>
          </a:p>
        </p:txBody>
      </p:sp>
      <p:sp>
        <p:nvSpPr>
          <p:cNvPr id="6" name="Chiffre instructions"/>
          <p:cNvSpPr txBox="1"/>
          <p:nvPr/>
        </p:nvSpPr>
        <p:spPr>
          <a:xfrm>
            <a:off x="6126480" y="2880360"/>
            <a:ext cx="2560320" cy="731520"/>
          </a:xfrm>
          <a:prstGeom prst="rect">
            <a:avLst/>
          </a:prstGeom>
          <a:noFill/>
          <a:ln/>
        </p:spPr>
        <p:txBody>
          <a:bodyPr wrap="square" lIns="0" tIns="0" rIns="0" bIns="0" rtlCol="0" anchor="ctr"/>
          <a:lstStyle/>
          <a:p>
            <a:pPr marL="0" indent="0">
              <a:buNone/>
            </a:pPr>
            <a:r>
              <a:rPr lang="en-US" sz="4400" b="1" dirty="0">
                <a:solidFill>
                  <a:schemeClr val="accent2"/>
                </a:solidFill>
              </a:rPr>
              <a:t>80 / 87</a:t>
            </a:r>
            <a:endParaRPr lang="en-US" sz="4400" dirty="0"/>
          </a:p>
        </p:txBody>
      </p:sp>
      <p:sp>
        <p:nvSpPr>
          <p:cNvPr id="7" name="Légende instructions"/>
          <p:cNvSpPr txBox="1"/>
          <p:nvPr/>
        </p:nvSpPr>
        <p:spPr>
          <a:xfrm>
            <a:off x="6126480" y="3611880"/>
            <a:ext cx="2560320" cy="777240"/>
          </a:xfrm>
          <a:prstGeom prst="rect">
            <a:avLst/>
          </a:prstGeom>
          <a:noFill/>
          <a:ln/>
        </p:spPr>
        <p:txBody>
          <a:bodyPr wrap="square" lIns="0" tIns="0" rIns="0" bIns="0" rtlCol="0" anchor="t"/>
          <a:lstStyle/>
          <a:p>
            <a:pPr marL="0" indent="0">
              <a:buNone/>
            </a:pPr>
            <a:r>
              <a:rPr lang="en-US" sz="1400" dirty="0">
                <a:solidFill>
                  <a:schemeClr val="tx1"/>
                </a:solidFill>
              </a:rPr>
              <a:t>références à des examens antérieurs supprimées par le prompt (GPT-4)</a:t>
            </a:r>
            <a:endParaRPr lang="en-US" sz="1400" dirty="0"/>
          </a:p>
        </p:txBody>
      </p:sp>
      <p:sp>
        <p:nvSpPr>
          <p:cNvPr id="8" name="Source"/>
          <p:cNvSpPr txBox="1"/>
          <p:nvPr/>
        </p:nvSpPr>
        <p:spPr>
          <a:xfrm>
            <a:off x="548640" y="4434840"/>
            <a:ext cx="7498080" cy="256032"/>
          </a:xfrm>
          <a:prstGeom prst="rect">
            <a:avLst/>
          </a:prstGeom>
          <a:noFill/>
          <a:ln/>
        </p:spPr>
        <p:txBody>
          <a:bodyPr wrap="square" lIns="0" tIns="0" rIns="0" bIns="0" rtlCol="0" anchor="ctr"/>
          <a:lstStyle/>
          <a:p>
            <a:pPr marL="0" indent="0">
              <a:buNone/>
            </a:pPr>
            <a:r>
              <a:rPr lang="en-US" sz="1000" i="1" dirty="0">
                <a:solidFill>
                  <a:schemeClr val="tx2"/>
                </a:solidFill>
              </a:rPr>
              <a:t>Source : Ranjit et al., 2023, tableau 3. RadGraph F1 comparable à la baseline (0,106 contre 0,110), non dépassé.</a:t>
            </a:r>
            <a:endParaRPr lang="en-US" sz="10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Analyse critique : apports et limites</a:t>
            </a:r>
            <a:endParaRPr lang="en-US" sz="3000" dirty="0"/>
          </a:p>
        </p:txBody>
      </p:sp>
      <p:sp>
        <p:nvSpPr>
          <p:cNvPr id="3" name="Carte Apports"/>
          <p:cNvSpPr/>
          <p:nvPr/>
        </p:nvSpPr>
        <p:spPr>
          <a:xfrm>
            <a:off x="548640" y="1325880"/>
            <a:ext cx="3931920" cy="3200400"/>
          </a:xfrm>
          <a:prstGeom prst="roundRect">
            <a:avLst>
              <a:gd name="adj" fmla="val 3429"/>
            </a:avLst>
          </a:prstGeom>
          <a:solidFill>
            <a:schemeClr val="bg2"/>
          </a:solidFill>
          <a:ln/>
        </p:spPr>
        <p:txBody>
          <a:bodyPr/>
          <a:lstStyle/>
          <a:p>
            <a:endParaRPr lang="fr-FR"/>
          </a:p>
        </p:txBody>
      </p:sp>
      <p:pic>
        <p:nvPicPr>
          <p:cNvPr id="4" name="Icône Apports" descr="Apports"/>
          <p:cNvPicPr>
            <a:picLocks noChangeAspect="1"/>
          </p:cNvPicPr>
          <p:nvPr/>
        </p:nvPicPr>
        <p:blipFill>
          <a:blip r:embed="rId3"/>
          <a:stretch>
            <a:fillRect/>
          </a:stretch>
        </p:blipFill>
        <p:spPr>
          <a:xfrm>
            <a:off x="777240" y="1508760"/>
            <a:ext cx="365760" cy="365760"/>
          </a:xfrm>
          <a:prstGeom prst="rect">
            <a:avLst/>
          </a:prstGeom>
        </p:spPr>
      </p:pic>
      <p:sp>
        <p:nvSpPr>
          <p:cNvPr id="5" name="Titre Apports"/>
          <p:cNvSpPr txBox="1"/>
          <p:nvPr/>
        </p:nvSpPr>
        <p:spPr>
          <a:xfrm>
            <a:off x="1280160" y="1481328"/>
            <a:ext cx="2926080" cy="420624"/>
          </a:xfrm>
          <a:prstGeom prst="rect">
            <a:avLst/>
          </a:prstGeom>
          <a:noFill/>
          <a:ln/>
        </p:spPr>
        <p:txBody>
          <a:bodyPr wrap="square" lIns="0" tIns="0" rIns="0" bIns="0" rtlCol="0" anchor="ctr"/>
          <a:lstStyle/>
          <a:p>
            <a:pPr marL="0" indent="0">
              <a:buNone/>
            </a:pPr>
            <a:r>
              <a:rPr lang="en-US" sz="2000" b="1" dirty="0">
                <a:solidFill>
                  <a:schemeClr val="accent1"/>
                </a:solidFill>
              </a:rPr>
              <a:t>Apports</a:t>
            </a:r>
            <a:endParaRPr lang="en-US" sz="2000" dirty="0"/>
          </a:p>
        </p:txBody>
      </p:sp>
      <p:sp>
        <p:nvSpPr>
          <p:cNvPr id="6" name="Liste Apports"/>
          <p:cNvSpPr txBox="1"/>
          <p:nvPr/>
        </p:nvSpPr>
        <p:spPr>
          <a:xfrm>
            <a:off x="777240" y="2103120"/>
            <a:ext cx="3474720" cy="22860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Sortie ancrée dans de vrais rapports</a:t>
            </a:r>
            <a:endParaRPr lang="en-US" sz="1700" dirty="0"/>
          </a:p>
          <a:p>
            <a:pPr marL="342900" indent="-342900">
              <a:spcAft>
                <a:spcPts val="1400"/>
              </a:spcAft>
              <a:buSzPct val="100000"/>
              <a:buChar char="•"/>
            </a:pPr>
            <a:r>
              <a:rPr lang="en-US" sz="1700" dirty="0">
                <a:solidFill>
                  <a:schemeClr val="tx1"/>
                </a:solidFill>
              </a:rPr>
              <a:t>Pas de LLM médical à entraîner</a:t>
            </a:r>
            <a:endParaRPr lang="en-US" sz="1700" dirty="0"/>
          </a:p>
          <a:p>
            <a:pPr marL="342900" indent="-342900">
              <a:spcAft>
                <a:spcPts val="1400"/>
              </a:spcAft>
              <a:buSzPct val="100000"/>
              <a:buChar char="•"/>
            </a:pPr>
            <a:r>
              <a:rPr lang="en-US" sz="1700" dirty="0">
                <a:solidFill>
                  <a:schemeClr val="tx1"/>
                </a:solidFill>
              </a:rPr>
              <a:t>Contenu et format pilotables par le prompt</a:t>
            </a:r>
            <a:endParaRPr lang="en-US" sz="1700" dirty="0"/>
          </a:p>
          <a:p>
            <a:pPr marL="342900" indent="-342900">
              <a:spcAft>
                <a:spcPts val="1400"/>
              </a:spcAft>
              <a:buSzPct val="100000"/>
              <a:buChar char="•"/>
            </a:pPr>
            <a:r>
              <a:rPr lang="en-US" sz="1700" dirty="0">
                <a:solidFill>
                  <a:schemeClr val="tx1"/>
                </a:solidFill>
              </a:rPr>
              <a:t>Sources traçables</a:t>
            </a:r>
            <a:endParaRPr lang="en-US" sz="1700" dirty="0"/>
          </a:p>
        </p:txBody>
      </p:sp>
      <p:sp>
        <p:nvSpPr>
          <p:cNvPr id="7" name="Carte Limites"/>
          <p:cNvSpPr/>
          <p:nvPr/>
        </p:nvSpPr>
        <p:spPr>
          <a:xfrm>
            <a:off x="4663440" y="1325880"/>
            <a:ext cx="3931920" cy="3200400"/>
          </a:xfrm>
          <a:prstGeom prst="roundRect">
            <a:avLst>
              <a:gd name="adj" fmla="val 3429"/>
            </a:avLst>
          </a:prstGeom>
          <a:solidFill>
            <a:schemeClr val="accent2">
              <a:alpha val="12000"/>
            </a:schemeClr>
          </a:solidFill>
          <a:ln/>
        </p:spPr>
        <p:txBody>
          <a:bodyPr/>
          <a:lstStyle/>
          <a:p>
            <a:endParaRPr lang="fr-FR"/>
          </a:p>
        </p:txBody>
      </p:sp>
      <p:pic>
        <p:nvPicPr>
          <p:cNvPr id="8" name="Icône Limites" descr="Limites"/>
          <p:cNvPicPr>
            <a:picLocks noChangeAspect="1"/>
          </p:cNvPicPr>
          <p:nvPr/>
        </p:nvPicPr>
        <p:blipFill>
          <a:blip r:embed="rId4"/>
          <a:stretch>
            <a:fillRect/>
          </a:stretch>
        </p:blipFill>
        <p:spPr>
          <a:xfrm>
            <a:off x="4892040" y="1508760"/>
            <a:ext cx="365760" cy="365760"/>
          </a:xfrm>
          <a:prstGeom prst="rect">
            <a:avLst/>
          </a:prstGeom>
        </p:spPr>
      </p:pic>
      <p:sp>
        <p:nvSpPr>
          <p:cNvPr id="9" name="Titre Limites"/>
          <p:cNvSpPr txBox="1"/>
          <p:nvPr/>
        </p:nvSpPr>
        <p:spPr>
          <a:xfrm>
            <a:off x="5394960" y="1481328"/>
            <a:ext cx="2926080" cy="420624"/>
          </a:xfrm>
          <a:prstGeom prst="rect">
            <a:avLst/>
          </a:prstGeom>
          <a:noFill/>
          <a:ln/>
        </p:spPr>
        <p:txBody>
          <a:bodyPr wrap="square" lIns="0" tIns="0" rIns="0" bIns="0" rtlCol="0" anchor="ctr"/>
          <a:lstStyle/>
          <a:p>
            <a:pPr marL="0" indent="0">
              <a:buNone/>
            </a:pPr>
            <a:r>
              <a:rPr lang="en-US" sz="2000" b="1" dirty="0">
                <a:solidFill>
                  <a:schemeClr val="accent2"/>
                </a:solidFill>
              </a:rPr>
              <a:t>Limites</a:t>
            </a:r>
            <a:endParaRPr lang="en-US" sz="2000" dirty="0"/>
          </a:p>
        </p:txBody>
      </p:sp>
      <p:sp>
        <p:nvSpPr>
          <p:cNvPr id="10" name="Liste Limites"/>
          <p:cNvSpPr txBox="1"/>
          <p:nvPr/>
        </p:nvSpPr>
        <p:spPr>
          <a:xfrm>
            <a:off x="4892040" y="2103120"/>
            <a:ext cx="3474720" cy="22860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Dépend entièrement du retrieval</a:t>
            </a:r>
            <a:endParaRPr lang="en-US" sz="1700" dirty="0"/>
          </a:p>
          <a:p>
            <a:pPr marL="342900" indent="-342900">
              <a:spcAft>
                <a:spcPts val="1400"/>
              </a:spcAft>
              <a:buSzPct val="100000"/>
              <a:buChar char="•"/>
            </a:pPr>
            <a:r>
              <a:rPr lang="en-US" sz="1700" dirty="0">
                <a:solidFill>
                  <a:schemeClr val="tx1"/>
                </a:solidFill>
              </a:rPr>
              <a:t>Le LLM ne voit pas l’image</a:t>
            </a:r>
            <a:endParaRPr lang="en-US" sz="1700" dirty="0"/>
          </a:p>
          <a:p>
            <a:pPr marL="342900" indent="-342900">
              <a:spcAft>
                <a:spcPts val="1400"/>
              </a:spcAft>
              <a:buSzPct val="100000"/>
              <a:buChar char="•"/>
            </a:pPr>
            <a:r>
              <a:rPr lang="en-US" sz="1700" dirty="0">
                <a:solidFill>
                  <a:schemeClr val="tx1"/>
                </a:solidFill>
              </a:rPr>
              <a:t>Métriques automatiques, pas de radiologues</a:t>
            </a:r>
            <a:endParaRPr lang="en-US" sz="1700" dirty="0"/>
          </a:p>
          <a:p>
            <a:pPr marL="342900" indent="-342900">
              <a:spcAft>
                <a:spcPts val="1400"/>
              </a:spcAft>
              <a:buSzPct val="100000"/>
              <a:buChar char="•"/>
            </a:pPr>
            <a:r>
              <a:rPr lang="en-US" sz="1700" dirty="0">
                <a:solidFill>
                  <a:schemeClr val="tx1"/>
                </a:solidFill>
              </a:rPr>
              <a:t>Un seul examen, données en anglais</a:t>
            </a:r>
            <a:endParaRPr lang="en-US" sz="17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Enjeux éthiques</a:t>
            </a:r>
            <a:endParaRPr lang="en-US" sz="3000" dirty="0"/>
          </a:p>
        </p:txBody>
      </p:sp>
      <p:sp>
        <p:nvSpPr>
          <p:cNvPr id="3" name="Carte Responsabilité"/>
          <p:cNvSpPr/>
          <p:nvPr/>
        </p:nvSpPr>
        <p:spPr>
          <a:xfrm>
            <a:off x="548640" y="1280160"/>
            <a:ext cx="2514600" cy="1463040"/>
          </a:xfrm>
          <a:prstGeom prst="roundRect">
            <a:avLst>
              <a:gd name="adj" fmla="val 7500"/>
            </a:avLst>
          </a:prstGeom>
          <a:solidFill>
            <a:schemeClr val="bg2"/>
          </a:solidFill>
          <a:ln/>
        </p:spPr>
        <p:txBody>
          <a:bodyPr/>
          <a:lstStyle/>
          <a:p>
            <a:endParaRPr lang="fr-FR"/>
          </a:p>
        </p:txBody>
      </p:sp>
      <p:sp>
        <p:nvSpPr>
          <p:cNvPr id="4" name="Icône Responsabilité fond"/>
          <p:cNvSpPr/>
          <p:nvPr/>
        </p:nvSpPr>
        <p:spPr>
          <a:xfrm>
            <a:off x="731520" y="1444752"/>
            <a:ext cx="457200" cy="457200"/>
          </a:xfrm>
          <a:prstGeom prst="ellipse">
            <a:avLst/>
          </a:prstGeom>
          <a:solidFill>
            <a:schemeClr val="accent1"/>
          </a:solidFill>
          <a:ln/>
        </p:spPr>
        <p:txBody>
          <a:bodyPr/>
          <a:lstStyle/>
          <a:p>
            <a:endParaRPr lang="fr-FR"/>
          </a:p>
        </p:txBody>
      </p:sp>
      <p:pic>
        <p:nvPicPr>
          <p:cNvPr id="5" name="Icône Responsabilité" descr="Icône Responsabilité"/>
          <p:cNvPicPr>
            <a:picLocks noChangeAspect="1"/>
          </p:cNvPicPr>
          <p:nvPr/>
        </p:nvPicPr>
        <p:blipFill>
          <a:blip r:embed="rId3"/>
          <a:stretch>
            <a:fillRect/>
          </a:stretch>
        </p:blipFill>
        <p:spPr>
          <a:xfrm>
            <a:off x="845820" y="1559052"/>
            <a:ext cx="228600" cy="228600"/>
          </a:xfrm>
          <a:prstGeom prst="rect">
            <a:avLst/>
          </a:prstGeom>
        </p:spPr>
      </p:pic>
      <p:sp>
        <p:nvSpPr>
          <p:cNvPr id="6" name="Titre Responsabilité"/>
          <p:cNvSpPr txBox="1"/>
          <p:nvPr/>
        </p:nvSpPr>
        <p:spPr>
          <a:xfrm>
            <a:off x="1298448" y="1417320"/>
            <a:ext cx="1645920" cy="512064"/>
          </a:xfrm>
          <a:prstGeom prst="rect">
            <a:avLst/>
          </a:prstGeom>
          <a:noFill/>
          <a:ln/>
        </p:spPr>
        <p:txBody>
          <a:bodyPr wrap="square" lIns="0" tIns="0" rIns="0" bIns="0" rtlCol="0" anchor="ctr"/>
          <a:lstStyle/>
          <a:p>
            <a:pPr marL="0" indent="0">
              <a:buNone/>
            </a:pPr>
            <a:r>
              <a:rPr lang="en-US" sz="1400" b="1" dirty="0">
                <a:solidFill>
                  <a:schemeClr val="tx2"/>
                </a:solidFill>
              </a:rPr>
              <a:t>Responsabilité</a:t>
            </a:r>
            <a:endParaRPr lang="en-US" sz="1400" dirty="0"/>
          </a:p>
        </p:txBody>
      </p:sp>
      <p:sp>
        <p:nvSpPr>
          <p:cNvPr id="7" name="Texte Responsabilité"/>
          <p:cNvSpPr txBox="1"/>
          <p:nvPr/>
        </p:nvSpPr>
        <p:spPr>
          <a:xfrm>
            <a:off x="731520" y="2057400"/>
            <a:ext cx="2194560" cy="594360"/>
          </a:xfrm>
          <a:prstGeom prst="rect">
            <a:avLst/>
          </a:prstGeom>
          <a:noFill/>
          <a:ln/>
        </p:spPr>
        <p:txBody>
          <a:bodyPr wrap="square" lIns="0" tIns="0" rIns="0" bIns="0" rtlCol="0" anchor="t"/>
          <a:lstStyle/>
          <a:p>
            <a:pPr marL="0" indent="0">
              <a:buNone/>
            </a:pPr>
            <a:r>
              <a:rPr lang="en-US" sz="1400" dirty="0">
                <a:solidFill>
                  <a:schemeClr val="tx1"/>
                </a:solidFill>
              </a:rPr>
              <a:t>Le radiologue reste décideur</a:t>
            </a:r>
            <a:endParaRPr lang="en-US" sz="1400" dirty="0"/>
          </a:p>
        </p:txBody>
      </p:sp>
      <p:sp>
        <p:nvSpPr>
          <p:cNvPr id="8" name="Carte Biais d’automatisation"/>
          <p:cNvSpPr/>
          <p:nvPr/>
        </p:nvSpPr>
        <p:spPr>
          <a:xfrm>
            <a:off x="3337560" y="1280160"/>
            <a:ext cx="2514600" cy="1463040"/>
          </a:xfrm>
          <a:prstGeom prst="roundRect">
            <a:avLst>
              <a:gd name="adj" fmla="val 7500"/>
            </a:avLst>
          </a:prstGeom>
          <a:solidFill>
            <a:schemeClr val="bg2"/>
          </a:solidFill>
          <a:ln/>
        </p:spPr>
        <p:txBody>
          <a:bodyPr/>
          <a:lstStyle/>
          <a:p>
            <a:endParaRPr lang="fr-FR"/>
          </a:p>
        </p:txBody>
      </p:sp>
      <p:sp>
        <p:nvSpPr>
          <p:cNvPr id="9" name="Icône Biais d’automatisation fond"/>
          <p:cNvSpPr/>
          <p:nvPr/>
        </p:nvSpPr>
        <p:spPr>
          <a:xfrm>
            <a:off x="3520440" y="1444752"/>
            <a:ext cx="457200" cy="457200"/>
          </a:xfrm>
          <a:prstGeom prst="ellipse">
            <a:avLst/>
          </a:prstGeom>
          <a:solidFill>
            <a:schemeClr val="accent1"/>
          </a:solidFill>
          <a:ln/>
        </p:spPr>
        <p:txBody>
          <a:bodyPr/>
          <a:lstStyle/>
          <a:p>
            <a:endParaRPr lang="fr-FR"/>
          </a:p>
        </p:txBody>
      </p:sp>
      <p:pic>
        <p:nvPicPr>
          <p:cNvPr id="10" name="Icône Biais d’automatisation" descr="Icône Biais d’automatisation"/>
          <p:cNvPicPr>
            <a:picLocks noChangeAspect="1"/>
          </p:cNvPicPr>
          <p:nvPr/>
        </p:nvPicPr>
        <p:blipFill>
          <a:blip r:embed="rId4"/>
          <a:stretch>
            <a:fillRect/>
          </a:stretch>
        </p:blipFill>
        <p:spPr>
          <a:xfrm>
            <a:off x="3634740" y="1559052"/>
            <a:ext cx="228600" cy="228600"/>
          </a:xfrm>
          <a:prstGeom prst="rect">
            <a:avLst/>
          </a:prstGeom>
        </p:spPr>
      </p:pic>
      <p:sp>
        <p:nvSpPr>
          <p:cNvPr id="11" name="Titre Biais d’automatisation"/>
          <p:cNvSpPr txBox="1"/>
          <p:nvPr/>
        </p:nvSpPr>
        <p:spPr>
          <a:xfrm>
            <a:off x="4087368" y="1417320"/>
            <a:ext cx="1645920" cy="512064"/>
          </a:xfrm>
          <a:prstGeom prst="rect">
            <a:avLst/>
          </a:prstGeom>
          <a:noFill/>
          <a:ln/>
        </p:spPr>
        <p:txBody>
          <a:bodyPr wrap="square" lIns="0" tIns="0" rIns="0" bIns="0" rtlCol="0" anchor="ctr"/>
          <a:lstStyle/>
          <a:p>
            <a:pPr marL="0" indent="0">
              <a:buNone/>
            </a:pPr>
            <a:r>
              <a:rPr lang="en-US" sz="1400" b="1" dirty="0">
                <a:solidFill>
                  <a:schemeClr val="tx2"/>
                </a:solidFill>
              </a:rPr>
              <a:t>Biais d’automatisation</a:t>
            </a:r>
            <a:endParaRPr lang="en-US" sz="1400" dirty="0"/>
          </a:p>
        </p:txBody>
      </p:sp>
      <p:sp>
        <p:nvSpPr>
          <p:cNvPr id="12" name="Texte Biais d’automatisation"/>
          <p:cNvSpPr txBox="1"/>
          <p:nvPr/>
        </p:nvSpPr>
        <p:spPr>
          <a:xfrm>
            <a:off x="3520440" y="2057400"/>
            <a:ext cx="2194560" cy="594360"/>
          </a:xfrm>
          <a:prstGeom prst="rect">
            <a:avLst/>
          </a:prstGeom>
          <a:noFill/>
          <a:ln/>
        </p:spPr>
        <p:txBody>
          <a:bodyPr wrap="square" lIns="0" tIns="0" rIns="0" bIns="0" rtlCol="0" anchor="t"/>
          <a:lstStyle/>
          <a:p>
            <a:pPr marL="0" indent="0">
              <a:buNone/>
            </a:pPr>
            <a:r>
              <a:rPr lang="en-US" sz="1400" dirty="0">
                <a:solidFill>
                  <a:schemeClr val="tx1"/>
                </a:solidFill>
              </a:rPr>
              <a:t>Valider trop vite un texte plausible</a:t>
            </a:r>
            <a:endParaRPr lang="en-US" sz="1400" dirty="0"/>
          </a:p>
        </p:txBody>
      </p:sp>
      <p:sp>
        <p:nvSpPr>
          <p:cNvPr id="13" name="Carte Confidentialité"/>
          <p:cNvSpPr/>
          <p:nvPr/>
        </p:nvSpPr>
        <p:spPr>
          <a:xfrm>
            <a:off x="6126480" y="1280160"/>
            <a:ext cx="2514600" cy="1463040"/>
          </a:xfrm>
          <a:prstGeom prst="roundRect">
            <a:avLst>
              <a:gd name="adj" fmla="val 7500"/>
            </a:avLst>
          </a:prstGeom>
          <a:solidFill>
            <a:schemeClr val="bg2"/>
          </a:solidFill>
          <a:ln/>
        </p:spPr>
        <p:txBody>
          <a:bodyPr/>
          <a:lstStyle/>
          <a:p>
            <a:endParaRPr lang="fr-FR"/>
          </a:p>
        </p:txBody>
      </p:sp>
      <p:sp>
        <p:nvSpPr>
          <p:cNvPr id="14" name="Icône Confidentialité fond"/>
          <p:cNvSpPr/>
          <p:nvPr/>
        </p:nvSpPr>
        <p:spPr>
          <a:xfrm>
            <a:off x="6309360" y="1444752"/>
            <a:ext cx="457200" cy="457200"/>
          </a:xfrm>
          <a:prstGeom prst="ellipse">
            <a:avLst/>
          </a:prstGeom>
          <a:solidFill>
            <a:schemeClr val="accent1"/>
          </a:solidFill>
          <a:ln/>
        </p:spPr>
        <p:txBody>
          <a:bodyPr/>
          <a:lstStyle/>
          <a:p>
            <a:endParaRPr lang="fr-FR"/>
          </a:p>
        </p:txBody>
      </p:sp>
      <p:pic>
        <p:nvPicPr>
          <p:cNvPr id="15" name="Icône Confidentialité" descr="Icône Confidentialité"/>
          <p:cNvPicPr>
            <a:picLocks noChangeAspect="1"/>
          </p:cNvPicPr>
          <p:nvPr/>
        </p:nvPicPr>
        <p:blipFill>
          <a:blip r:embed="rId5"/>
          <a:stretch>
            <a:fillRect/>
          </a:stretch>
        </p:blipFill>
        <p:spPr>
          <a:xfrm>
            <a:off x="6423660" y="1559052"/>
            <a:ext cx="228600" cy="228600"/>
          </a:xfrm>
          <a:prstGeom prst="rect">
            <a:avLst/>
          </a:prstGeom>
        </p:spPr>
      </p:pic>
      <p:sp>
        <p:nvSpPr>
          <p:cNvPr id="16" name="Titre Confidentialité"/>
          <p:cNvSpPr txBox="1"/>
          <p:nvPr/>
        </p:nvSpPr>
        <p:spPr>
          <a:xfrm>
            <a:off x="6876288" y="1417320"/>
            <a:ext cx="1645920" cy="512064"/>
          </a:xfrm>
          <a:prstGeom prst="rect">
            <a:avLst/>
          </a:prstGeom>
          <a:noFill/>
          <a:ln/>
        </p:spPr>
        <p:txBody>
          <a:bodyPr wrap="square" lIns="0" tIns="0" rIns="0" bIns="0" rtlCol="0" anchor="ctr"/>
          <a:lstStyle/>
          <a:p>
            <a:pPr marL="0" indent="0">
              <a:buNone/>
            </a:pPr>
            <a:r>
              <a:rPr lang="en-US" sz="1400" b="1" dirty="0">
                <a:solidFill>
                  <a:schemeClr val="tx2"/>
                </a:solidFill>
              </a:rPr>
              <a:t>Confidentialité</a:t>
            </a:r>
            <a:endParaRPr lang="en-US" sz="1400" dirty="0"/>
          </a:p>
        </p:txBody>
      </p:sp>
      <p:sp>
        <p:nvSpPr>
          <p:cNvPr id="17" name="Texte Confidentialité"/>
          <p:cNvSpPr txBox="1"/>
          <p:nvPr/>
        </p:nvSpPr>
        <p:spPr>
          <a:xfrm>
            <a:off x="6309360" y="2057400"/>
            <a:ext cx="2194560" cy="594360"/>
          </a:xfrm>
          <a:prstGeom prst="rect">
            <a:avLst/>
          </a:prstGeom>
          <a:noFill/>
          <a:ln/>
        </p:spPr>
        <p:txBody>
          <a:bodyPr wrap="square" lIns="0" tIns="0" rIns="0" bIns="0" rtlCol="0" anchor="t"/>
          <a:lstStyle/>
          <a:p>
            <a:pPr marL="0" indent="0">
              <a:buNone/>
            </a:pPr>
            <a:r>
              <a:rPr lang="en-US" sz="1400" dirty="0">
                <a:solidFill>
                  <a:schemeClr val="tx1"/>
                </a:solidFill>
              </a:rPr>
              <a:t>Données de santé et API externes</a:t>
            </a:r>
            <a:endParaRPr lang="en-US" sz="1400" dirty="0"/>
          </a:p>
        </p:txBody>
      </p:sp>
      <p:sp>
        <p:nvSpPr>
          <p:cNvPr id="18" name="Carte Équité"/>
          <p:cNvSpPr/>
          <p:nvPr/>
        </p:nvSpPr>
        <p:spPr>
          <a:xfrm>
            <a:off x="548640" y="2926080"/>
            <a:ext cx="2514600" cy="1463040"/>
          </a:xfrm>
          <a:prstGeom prst="roundRect">
            <a:avLst>
              <a:gd name="adj" fmla="val 7500"/>
            </a:avLst>
          </a:prstGeom>
          <a:solidFill>
            <a:schemeClr val="bg2"/>
          </a:solidFill>
          <a:ln/>
        </p:spPr>
        <p:txBody>
          <a:bodyPr/>
          <a:lstStyle/>
          <a:p>
            <a:endParaRPr lang="fr-FR"/>
          </a:p>
        </p:txBody>
      </p:sp>
      <p:sp>
        <p:nvSpPr>
          <p:cNvPr id="19" name="Icône Équité fond"/>
          <p:cNvSpPr/>
          <p:nvPr/>
        </p:nvSpPr>
        <p:spPr>
          <a:xfrm>
            <a:off x="731520" y="3090672"/>
            <a:ext cx="457200" cy="457200"/>
          </a:xfrm>
          <a:prstGeom prst="ellipse">
            <a:avLst/>
          </a:prstGeom>
          <a:solidFill>
            <a:schemeClr val="accent1"/>
          </a:solidFill>
          <a:ln/>
        </p:spPr>
        <p:txBody>
          <a:bodyPr/>
          <a:lstStyle/>
          <a:p>
            <a:endParaRPr lang="fr-FR"/>
          </a:p>
        </p:txBody>
      </p:sp>
      <p:pic>
        <p:nvPicPr>
          <p:cNvPr id="20" name="Icône Équité" descr="Icône Équité"/>
          <p:cNvPicPr>
            <a:picLocks noChangeAspect="1"/>
          </p:cNvPicPr>
          <p:nvPr/>
        </p:nvPicPr>
        <p:blipFill>
          <a:blip r:embed="rId6"/>
          <a:stretch>
            <a:fillRect/>
          </a:stretch>
        </p:blipFill>
        <p:spPr>
          <a:xfrm>
            <a:off x="845820" y="3204972"/>
            <a:ext cx="228600" cy="228600"/>
          </a:xfrm>
          <a:prstGeom prst="rect">
            <a:avLst/>
          </a:prstGeom>
        </p:spPr>
      </p:pic>
      <p:sp>
        <p:nvSpPr>
          <p:cNvPr id="21" name="Titre Équité"/>
          <p:cNvSpPr txBox="1"/>
          <p:nvPr/>
        </p:nvSpPr>
        <p:spPr>
          <a:xfrm>
            <a:off x="1298448" y="3063240"/>
            <a:ext cx="1645920" cy="512064"/>
          </a:xfrm>
          <a:prstGeom prst="rect">
            <a:avLst/>
          </a:prstGeom>
          <a:noFill/>
          <a:ln/>
        </p:spPr>
        <p:txBody>
          <a:bodyPr wrap="square" lIns="0" tIns="0" rIns="0" bIns="0" rtlCol="0" anchor="ctr"/>
          <a:lstStyle/>
          <a:p>
            <a:pPr marL="0" indent="0">
              <a:buNone/>
            </a:pPr>
            <a:r>
              <a:rPr lang="en-US" sz="1400" b="1" dirty="0">
                <a:solidFill>
                  <a:schemeClr val="tx2"/>
                </a:solidFill>
              </a:rPr>
              <a:t>Équité</a:t>
            </a:r>
            <a:endParaRPr lang="en-US" sz="1400" dirty="0"/>
          </a:p>
        </p:txBody>
      </p:sp>
      <p:sp>
        <p:nvSpPr>
          <p:cNvPr id="22" name="Texte Équité"/>
          <p:cNvSpPr txBox="1"/>
          <p:nvPr/>
        </p:nvSpPr>
        <p:spPr>
          <a:xfrm>
            <a:off x="731520" y="3703320"/>
            <a:ext cx="2194560" cy="594360"/>
          </a:xfrm>
          <a:prstGeom prst="rect">
            <a:avLst/>
          </a:prstGeom>
          <a:noFill/>
          <a:ln/>
        </p:spPr>
        <p:txBody>
          <a:bodyPr wrap="square" lIns="0" tIns="0" rIns="0" bIns="0" rtlCol="0" anchor="t"/>
          <a:lstStyle/>
          <a:p>
            <a:pPr marL="0" indent="0">
              <a:buNone/>
            </a:pPr>
            <a:r>
              <a:rPr lang="en-US" sz="1400" dirty="0">
                <a:solidFill>
                  <a:schemeClr val="tx1"/>
                </a:solidFill>
              </a:rPr>
              <a:t>Bases peu diversifiées, centrées sur l’anglais</a:t>
            </a:r>
            <a:endParaRPr lang="en-US" sz="1400" dirty="0"/>
          </a:p>
        </p:txBody>
      </p:sp>
      <p:sp>
        <p:nvSpPr>
          <p:cNvPr id="23" name="Carte Transparence"/>
          <p:cNvSpPr/>
          <p:nvPr/>
        </p:nvSpPr>
        <p:spPr>
          <a:xfrm>
            <a:off x="3337560" y="2926080"/>
            <a:ext cx="2514600" cy="1463040"/>
          </a:xfrm>
          <a:prstGeom prst="roundRect">
            <a:avLst>
              <a:gd name="adj" fmla="val 7500"/>
            </a:avLst>
          </a:prstGeom>
          <a:solidFill>
            <a:schemeClr val="bg2"/>
          </a:solidFill>
          <a:ln/>
        </p:spPr>
        <p:txBody>
          <a:bodyPr/>
          <a:lstStyle/>
          <a:p>
            <a:endParaRPr lang="fr-FR"/>
          </a:p>
        </p:txBody>
      </p:sp>
      <p:sp>
        <p:nvSpPr>
          <p:cNvPr id="24" name="Icône Transparence fond"/>
          <p:cNvSpPr/>
          <p:nvPr/>
        </p:nvSpPr>
        <p:spPr>
          <a:xfrm>
            <a:off x="3520440" y="3090672"/>
            <a:ext cx="457200" cy="457200"/>
          </a:xfrm>
          <a:prstGeom prst="ellipse">
            <a:avLst/>
          </a:prstGeom>
          <a:solidFill>
            <a:schemeClr val="accent1"/>
          </a:solidFill>
          <a:ln/>
        </p:spPr>
        <p:txBody>
          <a:bodyPr/>
          <a:lstStyle/>
          <a:p>
            <a:endParaRPr lang="fr-FR"/>
          </a:p>
        </p:txBody>
      </p:sp>
      <p:pic>
        <p:nvPicPr>
          <p:cNvPr id="25" name="Icône Transparence" descr="Icône Transparence"/>
          <p:cNvPicPr>
            <a:picLocks noChangeAspect="1"/>
          </p:cNvPicPr>
          <p:nvPr/>
        </p:nvPicPr>
        <p:blipFill>
          <a:blip r:embed="rId7"/>
          <a:stretch>
            <a:fillRect/>
          </a:stretch>
        </p:blipFill>
        <p:spPr>
          <a:xfrm>
            <a:off x="3634740" y="3204972"/>
            <a:ext cx="228600" cy="228600"/>
          </a:xfrm>
          <a:prstGeom prst="rect">
            <a:avLst/>
          </a:prstGeom>
        </p:spPr>
      </p:pic>
      <p:sp>
        <p:nvSpPr>
          <p:cNvPr id="26" name="Titre Transparence"/>
          <p:cNvSpPr txBox="1"/>
          <p:nvPr/>
        </p:nvSpPr>
        <p:spPr>
          <a:xfrm>
            <a:off x="4087368" y="3063240"/>
            <a:ext cx="1645920" cy="512064"/>
          </a:xfrm>
          <a:prstGeom prst="rect">
            <a:avLst/>
          </a:prstGeom>
          <a:noFill/>
          <a:ln/>
        </p:spPr>
        <p:txBody>
          <a:bodyPr wrap="square" lIns="0" tIns="0" rIns="0" bIns="0" rtlCol="0" anchor="ctr"/>
          <a:lstStyle/>
          <a:p>
            <a:pPr marL="0" indent="0">
              <a:buNone/>
            </a:pPr>
            <a:r>
              <a:rPr lang="en-US" sz="1400" b="1" dirty="0">
                <a:solidFill>
                  <a:schemeClr val="tx2"/>
                </a:solidFill>
              </a:rPr>
              <a:t>Transparence</a:t>
            </a:r>
            <a:endParaRPr lang="en-US" sz="1400" dirty="0"/>
          </a:p>
        </p:txBody>
      </p:sp>
      <p:sp>
        <p:nvSpPr>
          <p:cNvPr id="27" name="Texte Transparence"/>
          <p:cNvSpPr txBox="1"/>
          <p:nvPr/>
        </p:nvSpPr>
        <p:spPr>
          <a:xfrm>
            <a:off x="3520440" y="3703320"/>
            <a:ext cx="2194560" cy="594360"/>
          </a:xfrm>
          <a:prstGeom prst="rect">
            <a:avLst/>
          </a:prstGeom>
          <a:noFill/>
          <a:ln/>
        </p:spPr>
        <p:txBody>
          <a:bodyPr wrap="square" lIns="0" tIns="0" rIns="0" bIns="0" rtlCol="0" anchor="t"/>
          <a:lstStyle/>
          <a:p>
            <a:pPr marL="0" indent="0">
              <a:buNone/>
            </a:pPr>
            <a:r>
              <a:rPr lang="en-US" sz="1400" dirty="0">
                <a:solidFill>
                  <a:schemeClr val="tx1"/>
                </a:solidFill>
              </a:rPr>
              <a:t>Montrer les sources utilisées</a:t>
            </a:r>
            <a:endParaRPr lang="en-US" sz="1400" dirty="0"/>
          </a:p>
        </p:txBody>
      </p:sp>
      <p:sp>
        <p:nvSpPr>
          <p:cNvPr id="28" name="Carte Régulation"/>
          <p:cNvSpPr/>
          <p:nvPr/>
        </p:nvSpPr>
        <p:spPr>
          <a:xfrm>
            <a:off x="6126480" y="2926080"/>
            <a:ext cx="2514600" cy="1463040"/>
          </a:xfrm>
          <a:prstGeom prst="roundRect">
            <a:avLst>
              <a:gd name="adj" fmla="val 7500"/>
            </a:avLst>
          </a:prstGeom>
          <a:solidFill>
            <a:schemeClr val="bg2"/>
          </a:solidFill>
          <a:ln/>
        </p:spPr>
        <p:txBody>
          <a:bodyPr/>
          <a:lstStyle/>
          <a:p>
            <a:endParaRPr lang="fr-FR"/>
          </a:p>
        </p:txBody>
      </p:sp>
      <p:sp>
        <p:nvSpPr>
          <p:cNvPr id="29" name="Icône Régulation fond"/>
          <p:cNvSpPr/>
          <p:nvPr/>
        </p:nvSpPr>
        <p:spPr>
          <a:xfrm>
            <a:off x="6309360" y="3090672"/>
            <a:ext cx="457200" cy="457200"/>
          </a:xfrm>
          <a:prstGeom prst="ellipse">
            <a:avLst/>
          </a:prstGeom>
          <a:solidFill>
            <a:schemeClr val="accent1"/>
          </a:solidFill>
          <a:ln/>
        </p:spPr>
        <p:txBody>
          <a:bodyPr/>
          <a:lstStyle/>
          <a:p>
            <a:endParaRPr lang="fr-FR"/>
          </a:p>
        </p:txBody>
      </p:sp>
      <p:pic>
        <p:nvPicPr>
          <p:cNvPr id="30" name="Icône Régulation" descr="Icône Régulation"/>
          <p:cNvPicPr>
            <a:picLocks noChangeAspect="1"/>
          </p:cNvPicPr>
          <p:nvPr/>
        </p:nvPicPr>
        <p:blipFill>
          <a:blip r:embed="rId8"/>
          <a:stretch>
            <a:fillRect/>
          </a:stretch>
        </p:blipFill>
        <p:spPr>
          <a:xfrm>
            <a:off x="6423660" y="3204972"/>
            <a:ext cx="228600" cy="228600"/>
          </a:xfrm>
          <a:prstGeom prst="rect">
            <a:avLst/>
          </a:prstGeom>
        </p:spPr>
      </p:pic>
      <p:sp>
        <p:nvSpPr>
          <p:cNvPr id="31" name="Titre Régulation"/>
          <p:cNvSpPr txBox="1"/>
          <p:nvPr/>
        </p:nvSpPr>
        <p:spPr>
          <a:xfrm>
            <a:off x="6876288" y="3063240"/>
            <a:ext cx="1645920" cy="512064"/>
          </a:xfrm>
          <a:prstGeom prst="rect">
            <a:avLst/>
          </a:prstGeom>
          <a:noFill/>
          <a:ln/>
        </p:spPr>
        <p:txBody>
          <a:bodyPr wrap="square" lIns="0" tIns="0" rIns="0" bIns="0" rtlCol="0" anchor="ctr"/>
          <a:lstStyle/>
          <a:p>
            <a:pPr marL="0" indent="0">
              <a:buNone/>
            </a:pPr>
            <a:r>
              <a:rPr lang="en-US" sz="1400" b="1" dirty="0">
                <a:solidFill>
                  <a:schemeClr val="tx2"/>
                </a:solidFill>
              </a:rPr>
              <a:t>Régulation</a:t>
            </a:r>
            <a:endParaRPr lang="en-US" sz="1400" dirty="0"/>
          </a:p>
        </p:txBody>
      </p:sp>
      <p:sp>
        <p:nvSpPr>
          <p:cNvPr id="32" name="Texte Régulation"/>
          <p:cNvSpPr txBox="1"/>
          <p:nvPr/>
        </p:nvSpPr>
        <p:spPr>
          <a:xfrm>
            <a:off x="6309360" y="3703320"/>
            <a:ext cx="2194560" cy="594360"/>
          </a:xfrm>
          <a:prstGeom prst="rect">
            <a:avLst/>
          </a:prstGeom>
          <a:noFill/>
          <a:ln/>
        </p:spPr>
        <p:txBody>
          <a:bodyPr wrap="square" lIns="0" tIns="0" rIns="0" bIns="0" rtlCol="0" anchor="t"/>
          <a:lstStyle/>
          <a:p>
            <a:pPr marL="0" indent="0">
              <a:buNone/>
            </a:pPr>
            <a:r>
              <a:rPr lang="en-US" sz="1400" dirty="0">
                <a:solidFill>
                  <a:schemeClr val="tx1"/>
                </a:solidFill>
              </a:rPr>
              <a:t>Validation clinique, dispositif médical</a:t>
            </a:r>
            <a:endParaRPr lang="en-US" sz="1400" dirty="0"/>
          </a:p>
        </p:txBody>
      </p:sp>
      <p:sp>
        <p:nvSpPr>
          <p:cNvPr id="33"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bg1"/>
                </a:solidFill>
              </a:rPr>
              <a:t>À retenir</a:t>
            </a:r>
            <a:endParaRPr lang="en-US" sz="3000" dirty="0"/>
          </a:p>
        </p:txBody>
      </p:sp>
      <p:sp>
        <p:nvSpPr>
          <p:cNvPr id="3" name="Numéro 1"/>
          <p:cNvSpPr txBox="1"/>
          <p:nvPr/>
        </p:nvSpPr>
        <p:spPr>
          <a:xfrm>
            <a:off x="548640" y="1280160"/>
            <a:ext cx="731520" cy="731520"/>
          </a:xfrm>
          <a:prstGeom prst="rect">
            <a:avLst/>
          </a:prstGeom>
          <a:noFill/>
          <a:ln/>
        </p:spPr>
        <p:txBody>
          <a:bodyPr wrap="square" lIns="0" tIns="0" rIns="0" bIns="0" rtlCol="0" anchor="ctr"/>
          <a:lstStyle/>
          <a:p>
            <a:pPr marL="0" indent="0">
              <a:buNone/>
            </a:pPr>
            <a:r>
              <a:rPr lang="en-US" sz="4000" b="1" dirty="0">
                <a:solidFill>
                  <a:schemeClr val="accent5"/>
                </a:solidFill>
              </a:rPr>
              <a:t>1</a:t>
            </a:r>
            <a:endParaRPr lang="en-US" sz="4000" dirty="0"/>
          </a:p>
        </p:txBody>
      </p:sp>
      <p:sp>
        <p:nvSpPr>
          <p:cNvPr id="4" name="Message 1"/>
          <p:cNvSpPr txBox="1"/>
          <p:nvPr/>
        </p:nvSpPr>
        <p:spPr>
          <a:xfrm>
            <a:off x="1371600" y="1280160"/>
            <a:ext cx="7223760" cy="731520"/>
          </a:xfrm>
          <a:prstGeom prst="rect">
            <a:avLst/>
          </a:prstGeom>
          <a:noFill/>
          <a:ln/>
        </p:spPr>
        <p:txBody>
          <a:bodyPr wrap="square" lIns="0" tIns="0" rIns="0" bIns="0" rtlCol="0" anchor="ctr"/>
          <a:lstStyle/>
          <a:p>
            <a:pPr marL="0" indent="0">
              <a:buNone/>
            </a:pPr>
            <a:r>
              <a:rPr lang="en-US" sz="1700" dirty="0">
                <a:solidFill>
                  <a:schemeClr val="bg1"/>
                </a:solidFill>
              </a:rPr>
              <a:t>Le RAG ancre le LLM dans des sources : indexation, récupération, génération (Naive, Advanced, Modular).</a:t>
            </a:r>
            <a:endParaRPr lang="en-US" sz="1700" dirty="0"/>
          </a:p>
        </p:txBody>
      </p:sp>
      <p:sp>
        <p:nvSpPr>
          <p:cNvPr id="5" name="Numéro 2"/>
          <p:cNvSpPr txBox="1"/>
          <p:nvPr/>
        </p:nvSpPr>
        <p:spPr>
          <a:xfrm>
            <a:off x="548640" y="2103120"/>
            <a:ext cx="731520" cy="731520"/>
          </a:xfrm>
          <a:prstGeom prst="rect">
            <a:avLst/>
          </a:prstGeom>
          <a:noFill/>
          <a:ln/>
        </p:spPr>
        <p:txBody>
          <a:bodyPr wrap="square" lIns="0" tIns="0" rIns="0" bIns="0" rtlCol="0" anchor="ctr"/>
          <a:lstStyle/>
          <a:p>
            <a:pPr marL="0" indent="0">
              <a:buNone/>
            </a:pPr>
            <a:r>
              <a:rPr lang="en-US" sz="4000" b="1" dirty="0">
                <a:solidFill>
                  <a:schemeClr val="accent5"/>
                </a:solidFill>
              </a:rPr>
              <a:t>2</a:t>
            </a:r>
            <a:endParaRPr lang="en-US" sz="4000" dirty="0"/>
          </a:p>
        </p:txBody>
      </p:sp>
      <p:sp>
        <p:nvSpPr>
          <p:cNvPr id="6" name="Message 2"/>
          <p:cNvSpPr txBox="1"/>
          <p:nvPr/>
        </p:nvSpPr>
        <p:spPr>
          <a:xfrm>
            <a:off x="1371600" y="2103120"/>
            <a:ext cx="7223760" cy="731520"/>
          </a:xfrm>
          <a:prstGeom prst="rect">
            <a:avLst/>
          </a:prstGeom>
          <a:noFill/>
          <a:ln/>
        </p:spPr>
        <p:txBody>
          <a:bodyPr wrap="square" lIns="0" tIns="0" rIns="0" bIns="0" rtlCol="0" anchor="ctr"/>
          <a:lstStyle/>
          <a:p>
            <a:pPr marL="0" indent="0">
              <a:buNone/>
            </a:pPr>
            <a:r>
              <a:rPr lang="en-US" sz="1700" dirty="0">
                <a:solidFill>
                  <a:schemeClr val="bg1"/>
                </a:solidFill>
              </a:rPr>
              <a:t>Le RAG multimodal conserve les données visuelles : de la conversion en texte aux pages indexées comme images (ColPali).</a:t>
            </a:r>
            <a:endParaRPr lang="en-US" sz="1700" dirty="0"/>
          </a:p>
        </p:txBody>
      </p:sp>
      <p:sp>
        <p:nvSpPr>
          <p:cNvPr id="7" name="Numéro 3"/>
          <p:cNvSpPr txBox="1"/>
          <p:nvPr/>
        </p:nvSpPr>
        <p:spPr>
          <a:xfrm>
            <a:off x="548640" y="2926080"/>
            <a:ext cx="731520" cy="731520"/>
          </a:xfrm>
          <a:prstGeom prst="rect">
            <a:avLst/>
          </a:prstGeom>
          <a:noFill/>
          <a:ln/>
        </p:spPr>
        <p:txBody>
          <a:bodyPr wrap="square" lIns="0" tIns="0" rIns="0" bIns="0" rtlCol="0" anchor="ctr"/>
          <a:lstStyle/>
          <a:p>
            <a:pPr marL="0" indent="0">
              <a:buNone/>
            </a:pPr>
            <a:r>
              <a:rPr lang="en-US" sz="4000" b="1" dirty="0">
                <a:solidFill>
                  <a:schemeClr val="accent5"/>
                </a:solidFill>
              </a:rPr>
              <a:t>3</a:t>
            </a:r>
            <a:endParaRPr lang="en-US" sz="4000" dirty="0"/>
          </a:p>
        </p:txBody>
      </p:sp>
      <p:sp>
        <p:nvSpPr>
          <p:cNvPr id="8" name="Message 3"/>
          <p:cNvSpPr txBox="1"/>
          <p:nvPr/>
        </p:nvSpPr>
        <p:spPr>
          <a:xfrm>
            <a:off x="1371600" y="2926080"/>
            <a:ext cx="7223760" cy="731520"/>
          </a:xfrm>
          <a:prstGeom prst="rect">
            <a:avLst/>
          </a:prstGeom>
          <a:noFill/>
          <a:ln/>
        </p:spPr>
        <p:txBody>
          <a:bodyPr wrap="square" lIns="0" tIns="0" rIns="0" bIns="0" rtlCol="0" anchor="ctr"/>
          <a:lstStyle/>
          <a:p>
            <a:pPr marL="0" indent="0">
              <a:buNone/>
            </a:pPr>
            <a:r>
              <a:rPr lang="en-US" sz="1700" dirty="0">
                <a:solidFill>
                  <a:schemeClr val="bg1"/>
                </a:solidFill>
              </a:rPr>
              <a:t>En radiologie, CXR-RePaiR-Gen améliore la similarité sémantique et rend les impressions plus concises.</a:t>
            </a:r>
            <a:endParaRPr lang="en-US" sz="1700" dirty="0"/>
          </a:p>
        </p:txBody>
      </p:sp>
      <p:sp>
        <p:nvSpPr>
          <p:cNvPr id="9" name="Numéro 4"/>
          <p:cNvSpPr txBox="1"/>
          <p:nvPr/>
        </p:nvSpPr>
        <p:spPr>
          <a:xfrm>
            <a:off x="548640" y="3749040"/>
            <a:ext cx="731520" cy="731520"/>
          </a:xfrm>
          <a:prstGeom prst="rect">
            <a:avLst/>
          </a:prstGeom>
          <a:noFill/>
          <a:ln/>
        </p:spPr>
        <p:txBody>
          <a:bodyPr wrap="square" lIns="0" tIns="0" rIns="0" bIns="0" rtlCol="0" anchor="ctr"/>
          <a:lstStyle/>
          <a:p>
            <a:pPr marL="0" indent="0">
              <a:buNone/>
            </a:pPr>
            <a:r>
              <a:rPr lang="en-US" sz="4000" b="1" dirty="0">
                <a:solidFill>
                  <a:schemeClr val="accent5"/>
                </a:solidFill>
              </a:rPr>
              <a:t>4</a:t>
            </a:r>
            <a:endParaRPr lang="en-US" sz="4000" dirty="0"/>
          </a:p>
        </p:txBody>
      </p:sp>
      <p:sp>
        <p:nvSpPr>
          <p:cNvPr id="10" name="Message 4"/>
          <p:cNvSpPr txBox="1"/>
          <p:nvPr/>
        </p:nvSpPr>
        <p:spPr>
          <a:xfrm>
            <a:off x="1371600" y="3749040"/>
            <a:ext cx="7223760" cy="731520"/>
          </a:xfrm>
          <a:prstGeom prst="rect">
            <a:avLst/>
          </a:prstGeom>
          <a:noFill/>
          <a:ln/>
        </p:spPr>
        <p:txBody>
          <a:bodyPr wrap="square" lIns="0" tIns="0" rIns="0" bIns="0" rtlCol="0" anchor="ctr"/>
          <a:lstStyle/>
          <a:p>
            <a:pPr marL="0" indent="0">
              <a:buNone/>
            </a:pPr>
            <a:r>
              <a:rPr lang="en-US" sz="1700" dirty="0">
                <a:solidFill>
                  <a:schemeClr val="bg1"/>
                </a:solidFill>
              </a:rPr>
              <a:t>Mais : dépendance au retrieval, pas d’évaluation par des radiologues, validation humaine indispensable.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Références</a:t>
            </a:r>
            <a:endParaRPr lang="en-US" sz="3000" dirty="0"/>
          </a:p>
        </p:txBody>
      </p:sp>
      <p:sp>
        <p:nvSpPr>
          <p:cNvPr id="3" name="Liste références"/>
          <p:cNvSpPr txBox="1"/>
          <p:nvPr/>
        </p:nvSpPr>
        <p:spPr>
          <a:xfrm>
            <a:off x="548640" y="1280160"/>
            <a:ext cx="8046720" cy="32918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Gao, Y. et al. (2023). Retrieval-Augmented Generation for Large Language Models: A Survey. arXiv:2312.10997</a:t>
            </a:r>
            <a:endParaRPr lang="en-US" sz="1200" dirty="0"/>
          </a:p>
          <a:p>
            <a:pPr marL="342900" indent="-342900">
              <a:spcAft>
                <a:spcPts val="400"/>
              </a:spcAft>
              <a:buSzPct val="100000"/>
              <a:buChar char="•"/>
            </a:pPr>
            <a:r>
              <a:rPr lang="en-US" sz="1200" dirty="0">
                <a:solidFill>
                  <a:schemeClr val="tx1"/>
                </a:solidFill>
              </a:rPr>
              <a:t>Mei, L. et al. (2025). A Survey on Multimodal Retrieval-Augmented Generation. arXiv:2504.08748</a:t>
            </a:r>
            <a:endParaRPr lang="en-US" sz="1200" dirty="0"/>
          </a:p>
          <a:p>
            <a:pPr marL="342900" indent="-342900">
              <a:spcAft>
                <a:spcPts val="400"/>
              </a:spcAft>
              <a:buSzPct val="100000"/>
              <a:buChar char="•"/>
            </a:pPr>
            <a:r>
              <a:rPr lang="en-US" sz="1200" dirty="0">
                <a:solidFill>
                  <a:schemeClr val="tx1"/>
                </a:solidFill>
              </a:rPr>
              <a:t>Faysse, M. et al. (2024). ColPali: Efficient Document Retrieval with Vision Language Models. arXiv:2407.01449</a:t>
            </a:r>
            <a:endParaRPr lang="en-US" sz="1200" dirty="0"/>
          </a:p>
          <a:p>
            <a:pPr marL="342900" indent="-342900">
              <a:spcAft>
                <a:spcPts val="400"/>
              </a:spcAft>
              <a:buSzPct val="100000"/>
              <a:buChar char="•"/>
            </a:pPr>
            <a:r>
              <a:rPr lang="en-US" sz="1200" dirty="0">
                <a:solidFill>
                  <a:schemeClr val="tx1"/>
                </a:solidFill>
              </a:rPr>
              <a:t>Ranjit, M. et al. (2023). Retrieval Augmented Chest X-Ray Report Generation using OpenAI GPT models. arXiv:2305.03660</a:t>
            </a:r>
            <a:endParaRPr lang="en-US" sz="1200" dirty="0"/>
          </a:p>
          <a:p>
            <a:pPr marL="342900" indent="-342900">
              <a:spcAft>
                <a:spcPts val="400"/>
              </a:spcAft>
              <a:buSzPct val="100000"/>
              <a:buChar char="•"/>
            </a:pPr>
            <a:r>
              <a:rPr lang="en-US" sz="1200" dirty="0">
                <a:solidFill>
                  <a:schemeClr val="tx1"/>
                </a:solidFill>
              </a:rPr>
              <a:t>Lewis, P. et al. (2020). Retrieval-Augmented Generation for Knowledge-Intensive NLP Tasks. arXiv:2005.11401</a:t>
            </a:r>
            <a:endParaRPr lang="en-US" sz="1200" dirty="0"/>
          </a:p>
          <a:p>
            <a:pPr marL="342900" indent="-342900">
              <a:spcAft>
                <a:spcPts val="400"/>
              </a:spcAft>
              <a:buSzPct val="100000"/>
              <a:buChar char="•"/>
            </a:pPr>
            <a:r>
              <a:rPr lang="en-US" sz="1200" dirty="0">
                <a:solidFill>
                  <a:schemeClr val="tx1"/>
                </a:solidFill>
              </a:rPr>
              <a:t>Karpukhin, V. et al. (2020). Dense Passage Retrieval for Open-Domain QA. arXiv:2004.04906</a:t>
            </a:r>
            <a:endParaRPr lang="en-US" sz="1200" dirty="0"/>
          </a:p>
          <a:p>
            <a:pPr marL="342900" indent="-342900">
              <a:spcAft>
                <a:spcPts val="400"/>
              </a:spcAft>
              <a:buSzPct val="100000"/>
              <a:buChar char="•"/>
            </a:pPr>
            <a:r>
              <a:rPr lang="en-US" sz="1200" dirty="0">
                <a:solidFill>
                  <a:schemeClr val="tx1"/>
                </a:solidFill>
              </a:rPr>
              <a:t>Radford, A. et al. (2021). Learning Transferable Visual Models From Natural Language Supervision (CLIP). arXiv:2103.00020</a:t>
            </a:r>
            <a:endParaRPr lang="en-US" sz="1200" dirty="0"/>
          </a:p>
          <a:p>
            <a:pPr marL="342900" indent="-342900">
              <a:spcAft>
                <a:spcPts val="400"/>
              </a:spcAft>
              <a:buSzPct val="100000"/>
              <a:buChar char="•"/>
            </a:pPr>
            <a:r>
              <a:rPr lang="en-US" sz="1200" dirty="0">
                <a:solidFill>
                  <a:schemeClr val="tx1"/>
                </a:solidFill>
              </a:rPr>
              <a:t>Li, J. et al. (2021). Align before Fuse (ALBEF). arXiv:2107.07651</a:t>
            </a:r>
            <a:endParaRPr lang="en-US" sz="1200" dirty="0"/>
          </a:p>
          <a:p>
            <a:pPr marL="342900" indent="-342900">
              <a:spcAft>
                <a:spcPts val="400"/>
              </a:spcAft>
              <a:buSzPct val="100000"/>
              <a:buChar char="•"/>
            </a:pPr>
            <a:r>
              <a:rPr lang="en-US" sz="1200" dirty="0">
                <a:solidFill>
                  <a:schemeClr val="tx1"/>
                </a:solidFill>
              </a:rPr>
              <a:t>Sun, L. et al. (2024). Fact-Aware Multimodal Retrieval Augmentation for Radiology Report Generation. arXiv:2407.15268</a:t>
            </a:r>
            <a:endParaRPr lang="en-US" sz="1200" dirty="0"/>
          </a:p>
          <a:p>
            <a:pPr marL="342900" indent="-342900">
              <a:spcAft>
                <a:spcPts val="400"/>
              </a:spcAft>
              <a:buSzPct val="100000"/>
              <a:buChar char="•"/>
            </a:pPr>
            <a:r>
              <a:rPr lang="en-US" sz="1200" dirty="0">
                <a:solidFill>
                  <a:schemeClr val="tx1"/>
                </a:solidFill>
              </a:rPr>
              <a:t>Yang, R. et al. (2025). Retrieval-Augmented Generation in Medicine: A Scoping Review. arXiv:2511.05901</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Annexe : composants du RAG</a:t>
            </a:r>
            <a:endParaRPr lang="en-US" sz="3000" dirty="0"/>
          </a:p>
        </p:txBody>
      </p:sp>
      <p:sp>
        <p:nvSpPr>
          <p:cNvPr id="3" name="Carte Découpage"/>
          <p:cNvSpPr/>
          <p:nvPr/>
        </p:nvSpPr>
        <p:spPr>
          <a:xfrm>
            <a:off x="548640" y="1234440"/>
            <a:ext cx="2514600" cy="1280160"/>
          </a:xfrm>
          <a:prstGeom prst="roundRect">
            <a:avLst>
              <a:gd name="adj" fmla="val 8571"/>
            </a:avLst>
          </a:prstGeom>
          <a:solidFill>
            <a:schemeClr val="bg2"/>
          </a:solidFill>
          <a:ln/>
        </p:spPr>
        <p:txBody>
          <a:bodyPr/>
          <a:lstStyle/>
          <a:p>
            <a:endParaRPr lang="fr-FR"/>
          </a:p>
        </p:txBody>
      </p:sp>
      <p:sp>
        <p:nvSpPr>
          <p:cNvPr id="4" name="Icône Découpage fond"/>
          <p:cNvSpPr/>
          <p:nvPr/>
        </p:nvSpPr>
        <p:spPr>
          <a:xfrm>
            <a:off x="731520" y="1371600"/>
            <a:ext cx="457200" cy="457200"/>
          </a:xfrm>
          <a:prstGeom prst="ellipse">
            <a:avLst/>
          </a:prstGeom>
          <a:solidFill>
            <a:schemeClr val="accent1"/>
          </a:solidFill>
          <a:ln/>
        </p:spPr>
        <p:txBody>
          <a:bodyPr/>
          <a:lstStyle/>
          <a:p>
            <a:endParaRPr lang="fr-FR"/>
          </a:p>
        </p:txBody>
      </p:sp>
      <p:pic>
        <p:nvPicPr>
          <p:cNvPr id="5" name="Icône Découpage" descr="Icône Découpage"/>
          <p:cNvPicPr>
            <a:picLocks noChangeAspect="1"/>
          </p:cNvPicPr>
          <p:nvPr/>
        </p:nvPicPr>
        <p:blipFill>
          <a:blip r:embed="rId3"/>
          <a:stretch>
            <a:fillRect/>
          </a:stretch>
        </p:blipFill>
        <p:spPr>
          <a:xfrm>
            <a:off x="845820" y="1485900"/>
            <a:ext cx="228600" cy="228600"/>
          </a:xfrm>
          <a:prstGeom prst="rect">
            <a:avLst/>
          </a:prstGeom>
        </p:spPr>
      </p:pic>
      <p:sp>
        <p:nvSpPr>
          <p:cNvPr id="6" name="Titre Découpage"/>
          <p:cNvSpPr txBox="1"/>
          <p:nvPr/>
        </p:nvSpPr>
        <p:spPr>
          <a:xfrm>
            <a:off x="1298448" y="1371600"/>
            <a:ext cx="1645920" cy="457200"/>
          </a:xfrm>
          <a:prstGeom prst="rect">
            <a:avLst/>
          </a:prstGeom>
          <a:noFill/>
          <a:ln/>
        </p:spPr>
        <p:txBody>
          <a:bodyPr wrap="square" lIns="0" tIns="0" rIns="0" bIns="0" rtlCol="0" anchor="ctr"/>
          <a:lstStyle/>
          <a:p>
            <a:pPr marL="0" indent="0">
              <a:buNone/>
            </a:pPr>
            <a:r>
              <a:rPr lang="en-US" sz="1400" b="1" dirty="0">
                <a:solidFill>
                  <a:schemeClr val="tx2"/>
                </a:solidFill>
              </a:rPr>
              <a:t>Découpage</a:t>
            </a:r>
            <a:endParaRPr lang="en-US" sz="1400" dirty="0"/>
          </a:p>
        </p:txBody>
      </p:sp>
      <p:sp>
        <p:nvSpPr>
          <p:cNvPr id="7" name="Texte Découpage"/>
          <p:cNvSpPr txBox="1"/>
          <p:nvPr/>
        </p:nvSpPr>
        <p:spPr>
          <a:xfrm>
            <a:off x="731520" y="1947672"/>
            <a:ext cx="2194560" cy="530352"/>
          </a:xfrm>
          <a:prstGeom prst="rect">
            <a:avLst/>
          </a:prstGeom>
          <a:noFill/>
          <a:ln/>
        </p:spPr>
        <p:txBody>
          <a:bodyPr wrap="square" lIns="0" tIns="0" rIns="0" bIns="0" rtlCol="0" anchor="t"/>
          <a:lstStyle/>
          <a:p>
            <a:pPr marL="0" indent="0">
              <a:buNone/>
            </a:pPr>
            <a:r>
              <a:rPr lang="en-US" sz="1400" dirty="0">
                <a:solidFill>
                  <a:schemeClr val="tx1"/>
                </a:solidFill>
              </a:rPr>
              <a:t>Passages courts, plus précis à retrouver</a:t>
            </a:r>
            <a:endParaRPr lang="en-US" sz="1400" dirty="0"/>
          </a:p>
        </p:txBody>
      </p:sp>
      <p:sp>
        <p:nvSpPr>
          <p:cNvPr id="8" name="Carte Encodeur"/>
          <p:cNvSpPr/>
          <p:nvPr/>
        </p:nvSpPr>
        <p:spPr>
          <a:xfrm>
            <a:off x="3337560" y="1234440"/>
            <a:ext cx="2514600" cy="1280160"/>
          </a:xfrm>
          <a:prstGeom prst="roundRect">
            <a:avLst>
              <a:gd name="adj" fmla="val 8571"/>
            </a:avLst>
          </a:prstGeom>
          <a:solidFill>
            <a:schemeClr val="bg2"/>
          </a:solidFill>
          <a:ln/>
        </p:spPr>
        <p:txBody>
          <a:bodyPr/>
          <a:lstStyle/>
          <a:p>
            <a:endParaRPr lang="fr-FR"/>
          </a:p>
        </p:txBody>
      </p:sp>
      <p:sp>
        <p:nvSpPr>
          <p:cNvPr id="9" name="Icône Encodeur fond"/>
          <p:cNvSpPr/>
          <p:nvPr/>
        </p:nvSpPr>
        <p:spPr>
          <a:xfrm>
            <a:off x="3520440" y="1371600"/>
            <a:ext cx="457200" cy="457200"/>
          </a:xfrm>
          <a:prstGeom prst="ellipse">
            <a:avLst/>
          </a:prstGeom>
          <a:solidFill>
            <a:schemeClr val="accent1"/>
          </a:solidFill>
          <a:ln/>
        </p:spPr>
        <p:txBody>
          <a:bodyPr/>
          <a:lstStyle/>
          <a:p>
            <a:endParaRPr lang="fr-FR"/>
          </a:p>
        </p:txBody>
      </p:sp>
      <p:pic>
        <p:nvPicPr>
          <p:cNvPr id="10" name="Icône Encodeur" descr="Icône Encodeur"/>
          <p:cNvPicPr>
            <a:picLocks noChangeAspect="1"/>
          </p:cNvPicPr>
          <p:nvPr/>
        </p:nvPicPr>
        <p:blipFill>
          <a:blip r:embed="rId4"/>
          <a:stretch>
            <a:fillRect/>
          </a:stretch>
        </p:blipFill>
        <p:spPr>
          <a:xfrm>
            <a:off x="3634740" y="1485900"/>
            <a:ext cx="228600" cy="228600"/>
          </a:xfrm>
          <a:prstGeom prst="rect">
            <a:avLst/>
          </a:prstGeom>
        </p:spPr>
      </p:pic>
      <p:sp>
        <p:nvSpPr>
          <p:cNvPr id="11" name="Titre Encodeur"/>
          <p:cNvSpPr txBox="1"/>
          <p:nvPr/>
        </p:nvSpPr>
        <p:spPr>
          <a:xfrm>
            <a:off x="4087368" y="1371600"/>
            <a:ext cx="1645920" cy="457200"/>
          </a:xfrm>
          <a:prstGeom prst="rect">
            <a:avLst/>
          </a:prstGeom>
          <a:noFill/>
          <a:ln/>
        </p:spPr>
        <p:txBody>
          <a:bodyPr wrap="square" lIns="0" tIns="0" rIns="0" bIns="0" rtlCol="0" anchor="ctr"/>
          <a:lstStyle/>
          <a:p>
            <a:pPr marL="0" indent="0">
              <a:buNone/>
            </a:pPr>
            <a:r>
              <a:rPr lang="en-US" sz="1400" b="1" dirty="0">
                <a:solidFill>
                  <a:schemeClr val="tx2"/>
                </a:solidFill>
              </a:rPr>
              <a:t>Encodeur</a:t>
            </a:r>
            <a:endParaRPr lang="en-US" sz="1400" dirty="0"/>
          </a:p>
        </p:txBody>
      </p:sp>
      <p:sp>
        <p:nvSpPr>
          <p:cNvPr id="12" name="Texte Encodeur"/>
          <p:cNvSpPr txBox="1"/>
          <p:nvPr/>
        </p:nvSpPr>
        <p:spPr>
          <a:xfrm>
            <a:off x="3520440" y="1947672"/>
            <a:ext cx="2194560" cy="530352"/>
          </a:xfrm>
          <a:prstGeom prst="rect">
            <a:avLst/>
          </a:prstGeom>
          <a:noFill/>
          <a:ln/>
        </p:spPr>
        <p:txBody>
          <a:bodyPr wrap="square" lIns="0" tIns="0" rIns="0" bIns="0" rtlCol="0" anchor="t"/>
          <a:lstStyle/>
          <a:p>
            <a:pPr marL="0" indent="0">
              <a:buNone/>
            </a:pPr>
            <a:r>
              <a:rPr lang="en-US" sz="1400" dirty="0">
                <a:solidFill>
                  <a:schemeClr val="tx1"/>
                </a:solidFill>
              </a:rPr>
              <a:t>Texte (ou image) transformé en vecteur</a:t>
            </a:r>
            <a:endParaRPr lang="en-US" sz="1400" dirty="0"/>
          </a:p>
        </p:txBody>
      </p:sp>
      <p:sp>
        <p:nvSpPr>
          <p:cNvPr id="13" name="Carte Base vectorielle"/>
          <p:cNvSpPr/>
          <p:nvPr/>
        </p:nvSpPr>
        <p:spPr>
          <a:xfrm>
            <a:off x="6126480" y="1234440"/>
            <a:ext cx="2514600" cy="1280160"/>
          </a:xfrm>
          <a:prstGeom prst="roundRect">
            <a:avLst>
              <a:gd name="adj" fmla="val 8571"/>
            </a:avLst>
          </a:prstGeom>
          <a:solidFill>
            <a:schemeClr val="bg2"/>
          </a:solidFill>
          <a:ln/>
        </p:spPr>
        <p:txBody>
          <a:bodyPr/>
          <a:lstStyle/>
          <a:p>
            <a:endParaRPr lang="fr-FR"/>
          </a:p>
        </p:txBody>
      </p:sp>
      <p:sp>
        <p:nvSpPr>
          <p:cNvPr id="14" name="Icône Base vectorielle fond"/>
          <p:cNvSpPr/>
          <p:nvPr/>
        </p:nvSpPr>
        <p:spPr>
          <a:xfrm>
            <a:off x="6309360" y="1371600"/>
            <a:ext cx="457200" cy="457200"/>
          </a:xfrm>
          <a:prstGeom prst="ellipse">
            <a:avLst/>
          </a:prstGeom>
          <a:solidFill>
            <a:schemeClr val="accent1"/>
          </a:solidFill>
          <a:ln/>
        </p:spPr>
        <p:txBody>
          <a:bodyPr/>
          <a:lstStyle/>
          <a:p>
            <a:endParaRPr lang="fr-FR"/>
          </a:p>
        </p:txBody>
      </p:sp>
      <p:pic>
        <p:nvPicPr>
          <p:cNvPr id="15" name="Icône Base vectorielle" descr="Icône Base vectorielle"/>
          <p:cNvPicPr>
            <a:picLocks noChangeAspect="1"/>
          </p:cNvPicPr>
          <p:nvPr/>
        </p:nvPicPr>
        <p:blipFill>
          <a:blip r:embed="rId5"/>
          <a:stretch>
            <a:fillRect/>
          </a:stretch>
        </p:blipFill>
        <p:spPr>
          <a:xfrm>
            <a:off x="6423660" y="1485900"/>
            <a:ext cx="228600" cy="228600"/>
          </a:xfrm>
          <a:prstGeom prst="rect">
            <a:avLst/>
          </a:prstGeom>
        </p:spPr>
      </p:pic>
      <p:sp>
        <p:nvSpPr>
          <p:cNvPr id="16" name="Titre Base vectorielle"/>
          <p:cNvSpPr txBox="1"/>
          <p:nvPr/>
        </p:nvSpPr>
        <p:spPr>
          <a:xfrm>
            <a:off x="6876288" y="1371600"/>
            <a:ext cx="1645920" cy="457200"/>
          </a:xfrm>
          <a:prstGeom prst="rect">
            <a:avLst/>
          </a:prstGeom>
          <a:noFill/>
          <a:ln/>
        </p:spPr>
        <p:txBody>
          <a:bodyPr wrap="square" lIns="0" tIns="0" rIns="0" bIns="0" rtlCol="0" anchor="ctr"/>
          <a:lstStyle/>
          <a:p>
            <a:pPr marL="0" indent="0">
              <a:buNone/>
            </a:pPr>
            <a:r>
              <a:rPr lang="en-US" sz="1400" b="1" dirty="0">
                <a:solidFill>
                  <a:schemeClr val="tx2"/>
                </a:solidFill>
              </a:rPr>
              <a:t>Base vectorielle</a:t>
            </a:r>
            <a:endParaRPr lang="en-US" sz="1400" dirty="0"/>
          </a:p>
        </p:txBody>
      </p:sp>
      <p:sp>
        <p:nvSpPr>
          <p:cNvPr id="17" name="Texte Base vectorielle"/>
          <p:cNvSpPr txBox="1"/>
          <p:nvPr/>
        </p:nvSpPr>
        <p:spPr>
          <a:xfrm>
            <a:off x="6309360" y="1947672"/>
            <a:ext cx="2194560" cy="530352"/>
          </a:xfrm>
          <a:prstGeom prst="rect">
            <a:avLst/>
          </a:prstGeom>
          <a:noFill/>
          <a:ln/>
        </p:spPr>
        <p:txBody>
          <a:bodyPr wrap="square" lIns="0" tIns="0" rIns="0" bIns="0" rtlCol="0" anchor="t"/>
          <a:lstStyle/>
          <a:p>
            <a:pPr marL="0" indent="0">
              <a:buNone/>
            </a:pPr>
            <a:r>
              <a:rPr lang="en-US" sz="1400" dirty="0">
                <a:solidFill>
                  <a:schemeClr val="tx1"/>
                </a:solidFill>
              </a:rPr>
              <a:t>Stocke les vecteurs (ex. FAISS, Chroma)</a:t>
            </a:r>
            <a:endParaRPr lang="en-US" sz="1400" dirty="0"/>
          </a:p>
        </p:txBody>
      </p:sp>
      <p:sp>
        <p:nvSpPr>
          <p:cNvPr id="18" name="Carte Retriever top-K"/>
          <p:cNvSpPr/>
          <p:nvPr/>
        </p:nvSpPr>
        <p:spPr>
          <a:xfrm>
            <a:off x="548640" y="2651760"/>
            <a:ext cx="2514600" cy="1280160"/>
          </a:xfrm>
          <a:prstGeom prst="roundRect">
            <a:avLst>
              <a:gd name="adj" fmla="val 8571"/>
            </a:avLst>
          </a:prstGeom>
          <a:solidFill>
            <a:schemeClr val="bg2"/>
          </a:solidFill>
          <a:ln/>
        </p:spPr>
        <p:txBody>
          <a:bodyPr/>
          <a:lstStyle/>
          <a:p>
            <a:endParaRPr lang="fr-FR"/>
          </a:p>
        </p:txBody>
      </p:sp>
      <p:sp>
        <p:nvSpPr>
          <p:cNvPr id="19" name="Icône Retriever top-K fond"/>
          <p:cNvSpPr/>
          <p:nvPr/>
        </p:nvSpPr>
        <p:spPr>
          <a:xfrm>
            <a:off x="731520" y="2788920"/>
            <a:ext cx="457200" cy="457200"/>
          </a:xfrm>
          <a:prstGeom prst="ellipse">
            <a:avLst/>
          </a:prstGeom>
          <a:solidFill>
            <a:schemeClr val="accent2"/>
          </a:solidFill>
          <a:ln/>
        </p:spPr>
        <p:txBody>
          <a:bodyPr/>
          <a:lstStyle/>
          <a:p>
            <a:endParaRPr lang="fr-FR"/>
          </a:p>
        </p:txBody>
      </p:sp>
      <p:pic>
        <p:nvPicPr>
          <p:cNvPr id="20" name="Icône Retriever top-K" descr="Icône Retriever top-K"/>
          <p:cNvPicPr>
            <a:picLocks noChangeAspect="1"/>
          </p:cNvPicPr>
          <p:nvPr/>
        </p:nvPicPr>
        <p:blipFill>
          <a:blip r:embed="rId6"/>
          <a:stretch>
            <a:fillRect/>
          </a:stretch>
        </p:blipFill>
        <p:spPr>
          <a:xfrm>
            <a:off x="845820" y="2903220"/>
            <a:ext cx="228600" cy="228600"/>
          </a:xfrm>
          <a:prstGeom prst="rect">
            <a:avLst/>
          </a:prstGeom>
        </p:spPr>
      </p:pic>
      <p:sp>
        <p:nvSpPr>
          <p:cNvPr id="21" name="Titre Retriever top-K"/>
          <p:cNvSpPr txBox="1"/>
          <p:nvPr/>
        </p:nvSpPr>
        <p:spPr>
          <a:xfrm>
            <a:off x="1298448" y="2788920"/>
            <a:ext cx="1645920" cy="457200"/>
          </a:xfrm>
          <a:prstGeom prst="rect">
            <a:avLst/>
          </a:prstGeom>
          <a:noFill/>
          <a:ln/>
        </p:spPr>
        <p:txBody>
          <a:bodyPr wrap="square" lIns="0" tIns="0" rIns="0" bIns="0" rtlCol="0" anchor="ctr"/>
          <a:lstStyle/>
          <a:p>
            <a:pPr marL="0" indent="0">
              <a:buNone/>
            </a:pPr>
            <a:r>
              <a:rPr lang="en-US" sz="1400" b="1" dirty="0">
                <a:solidFill>
                  <a:schemeClr val="tx2"/>
                </a:solidFill>
              </a:rPr>
              <a:t>Retriever top-K</a:t>
            </a:r>
            <a:endParaRPr lang="en-US" sz="1400" dirty="0"/>
          </a:p>
        </p:txBody>
      </p:sp>
      <p:sp>
        <p:nvSpPr>
          <p:cNvPr id="22" name="Texte Retriever top-K"/>
          <p:cNvSpPr txBox="1"/>
          <p:nvPr/>
        </p:nvSpPr>
        <p:spPr>
          <a:xfrm>
            <a:off x="731520" y="3364992"/>
            <a:ext cx="2194560" cy="530352"/>
          </a:xfrm>
          <a:prstGeom prst="rect">
            <a:avLst/>
          </a:prstGeom>
          <a:noFill/>
          <a:ln/>
        </p:spPr>
        <p:txBody>
          <a:bodyPr wrap="square" lIns="0" tIns="0" rIns="0" bIns="0" rtlCol="0" anchor="t"/>
          <a:lstStyle/>
          <a:p>
            <a:pPr marL="0" indent="0">
              <a:buNone/>
            </a:pPr>
            <a:r>
              <a:rPr lang="en-US" sz="1400" dirty="0">
                <a:solidFill>
                  <a:schemeClr val="tx1"/>
                </a:solidFill>
              </a:rPr>
              <a:t>Les K passages les plus proches</a:t>
            </a:r>
            <a:endParaRPr lang="en-US" sz="1400" dirty="0"/>
          </a:p>
        </p:txBody>
      </p:sp>
      <p:sp>
        <p:nvSpPr>
          <p:cNvPr id="23" name="Carte Prompt augmenté"/>
          <p:cNvSpPr/>
          <p:nvPr/>
        </p:nvSpPr>
        <p:spPr>
          <a:xfrm>
            <a:off x="3337560" y="2651760"/>
            <a:ext cx="2514600" cy="1280160"/>
          </a:xfrm>
          <a:prstGeom prst="roundRect">
            <a:avLst>
              <a:gd name="adj" fmla="val 8571"/>
            </a:avLst>
          </a:prstGeom>
          <a:solidFill>
            <a:schemeClr val="bg2"/>
          </a:solidFill>
          <a:ln/>
        </p:spPr>
        <p:txBody>
          <a:bodyPr/>
          <a:lstStyle/>
          <a:p>
            <a:endParaRPr lang="fr-FR"/>
          </a:p>
        </p:txBody>
      </p:sp>
      <p:sp>
        <p:nvSpPr>
          <p:cNvPr id="24" name="Icône Prompt augmenté fond"/>
          <p:cNvSpPr/>
          <p:nvPr/>
        </p:nvSpPr>
        <p:spPr>
          <a:xfrm>
            <a:off x="3520440" y="2788920"/>
            <a:ext cx="457200" cy="457200"/>
          </a:xfrm>
          <a:prstGeom prst="ellipse">
            <a:avLst/>
          </a:prstGeom>
          <a:solidFill>
            <a:schemeClr val="accent2"/>
          </a:solidFill>
          <a:ln/>
        </p:spPr>
        <p:txBody>
          <a:bodyPr/>
          <a:lstStyle/>
          <a:p>
            <a:endParaRPr lang="fr-FR"/>
          </a:p>
        </p:txBody>
      </p:sp>
      <p:pic>
        <p:nvPicPr>
          <p:cNvPr id="25" name="Icône Prompt augmenté" descr="Icône Prompt augmenté"/>
          <p:cNvPicPr>
            <a:picLocks noChangeAspect="1"/>
          </p:cNvPicPr>
          <p:nvPr/>
        </p:nvPicPr>
        <p:blipFill>
          <a:blip r:embed="rId7"/>
          <a:stretch>
            <a:fillRect/>
          </a:stretch>
        </p:blipFill>
        <p:spPr>
          <a:xfrm>
            <a:off x="3634740" y="2903220"/>
            <a:ext cx="228600" cy="228600"/>
          </a:xfrm>
          <a:prstGeom prst="rect">
            <a:avLst/>
          </a:prstGeom>
        </p:spPr>
      </p:pic>
      <p:sp>
        <p:nvSpPr>
          <p:cNvPr id="26" name="Titre Prompt augmenté"/>
          <p:cNvSpPr txBox="1"/>
          <p:nvPr/>
        </p:nvSpPr>
        <p:spPr>
          <a:xfrm>
            <a:off x="4087368" y="2788920"/>
            <a:ext cx="1645920" cy="457200"/>
          </a:xfrm>
          <a:prstGeom prst="rect">
            <a:avLst/>
          </a:prstGeom>
          <a:noFill/>
          <a:ln/>
        </p:spPr>
        <p:txBody>
          <a:bodyPr wrap="square" lIns="0" tIns="0" rIns="0" bIns="0" rtlCol="0" anchor="ctr"/>
          <a:lstStyle/>
          <a:p>
            <a:pPr marL="0" indent="0">
              <a:buNone/>
            </a:pPr>
            <a:r>
              <a:rPr lang="en-US" sz="1400" b="1" dirty="0">
                <a:solidFill>
                  <a:schemeClr val="tx2"/>
                </a:solidFill>
              </a:rPr>
              <a:t>Prompt augmenté</a:t>
            </a:r>
            <a:endParaRPr lang="en-US" sz="1400" dirty="0"/>
          </a:p>
        </p:txBody>
      </p:sp>
      <p:sp>
        <p:nvSpPr>
          <p:cNvPr id="27" name="Texte Prompt augmenté"/>
          <p:cNvSpPr txBox="1"/>
          <p:nvPr/>
        </p:nvSpPr>
        <p:spPr>
          <a:xfrm>
            <a:off x="3520440" y="3364992"/>
            <a:ext cx="2194560" cy="530352"/>
          </a:xfrm>
          <a:prstGeom prst="rect">
            <a:avLst/>
          </a:prstGeom>
          <a:noFill/>
          <a:ln/>
        </p:spPr>
        <p:txBody>
          <a:bodyPr wrap="square" lIns="0" tIns="0" rIns="0" bIns="0" rtlCol="0" anchor="t"/>
          <a:lstStyle/>
          <a:p>
            <a:pPr marL="0" indent="0">
              <a:buNone/>
            </a:pPr>
            <a:r>
              <a:rPr lang="en-US" sz="1400" dirty="0">
                <a:solidFill>
                  <a:schemeClr val="tx1"/>
                </a:solidFill>
              </a:rPr>
              <a:t>Question + passages + consignes</a:t>
            </a:r>
            <a:endParaRPr lang="en-US" sz="1400" dirty="0"/>
          </a:p>
        </p:txBody>
      </p:sp>
      <p:sp>
        <p:nvSpPr>
          <p:cNvPr id="28" name="Carte LLM"/>
          <p:cNvSpPr/>
          <p:nvPr/>
        </p:nvSpPr>
        <p:spPr>
          <a:xfrm>
            <a:off x="6126480" y="2651760"/>
            <a:ext cx="2514600" cy="1280160"/>
          </a:xfrm>
          <a:prstGeom prst="roundRect">
            <a:avLst>
              <a:gd name="adj" fmla="val 8571"/>
            </a:avLst>
          </a:prstGeom>
          <a:solidFill>
            <a:schemeClr val="bg2"/>
          </a:solidFill>
          <a:ln/>
        </p:spPr>
        <p:txBody>
          <a:bodyPr/>
          <a:lstStyle/>
          <a:p>
            <a:endParaRPr lang="fr-FR"/>
          </a:p>
        </p:txBody>
      </p:sp>
      <p:sp>
        <p:nvSpPr>
          <p:cNvPr id="29" name="Icône LLM fond"/>
          <p:cNvSpPr/>
          <p:nvPr/>
        </p:nvSpPr>
        <p:spPr>
          <a:xfrm>
            <a:off x="6309360" y="2788920"/>
            <a:ext cx="457200" cy="457200"/>
          </a:xfrm>
          <a:prstGeom prst="ellipse">
            <a:avLst/>
          </a:prstGeom>
          <a:solidFill>
            <a:schemeClr val="accent2"/>
          </a:solidFill>
          <a:ln/>
        </p:spPr>
        <p:txBody>
          <a:bodyPr/>
          <a:lstStyle/>
          <a:p>
            <a:endParaRPr lang="fr-FR"/>
          </a:p>
        </p:txBody>
      </p:sp>
      <p:pic>
        <p:nvPicPr>
          <p:cNvPr id="30" name="Icône LLM" descr="Icône LLM"/>
          <p:cNvPicPr>
            <a:picLocks noChangeAspect="1"/>
          </p:cNvPicPr>
          <p:nvPr/>
        </p:nvPicPr>
        <p:blipFill>
          <a:blip r:embed="rId8"/>
          <a:stretch>
            <a:fillRect/>
          </a:stretch>
        </p:blipFill>
        <p:spPr>
          <a:xfrm>
            <a:off x="6423660" y="2903220"/>
            <a:ext cx="228600" cy="228600"/>
          </a:xfrm>
          <a:prstGeom prst="rect">
            <a:avLst/>
          </a:prstGeom>
        </p:spPr>
      </p:pic>
      <p:sp>
        <p:nvSpPr>
          <p:cNvPr id="31" name="Titre LLM"/>
          <p:cNvSpPr txBox="1"/>
          <p:nvPr/>
        </p:nvSpPr>
        <p:spPr>
          <a:xfrm>
            <a:off x="6876288" y="2788920"/>
            <a:ext cx="1645920" cy="457200"/>
          </a:xfrm>
          <a:prstGeom prst="rect">
            <a:avLst/>
          </a:prstGeom>
          <a:noFill/>
          <a:ln/>
        </p:spPr>
        <p:txBody>
          <a:bodyPr wrap="square" lIns="0" tIns="0" rIns="0" bIns="0" rtlCol="0" anchor="ctr"/>
          <a:lstStyle/>
          <a:p>
            <a:pPr marL="0" indent="0">
              <a:buNone/>
            </a:pPr>
            <a:r>
              <a:rPr lang="en-US" sz="1400" b="1" dirty="0">
                <a:solidFill>
                  <a:schemeClr val="tx2"/>
                </a:solidFill>
              </a:rPr>
              <a:t>LLM</a:t>
            </a:r>
            <a:endParaRPr lang="en-US" sz="1400" dirty="0"/>
          </a:p>
        </p:txBody>
      </p:sp>
      <p:sp>
        <p:nvSpPr>
          <p:cNvPr id="32" name="Texte LLM"/>
          <p:cNvSpPr txBox="1"/>
          <p:nvPr/>
        </p:nvSpPr>
        <p:spPr>
          <a:xfrm>
            <a:off x="6309360" y="3364992"/>
            <a:ext cx="2194560" cy="530352"/>
          </a:xfrm>
          <a:prstGeom prst="rect">
            <a:avLst/>
          </a:prstGeom>
          <a:noFill/>
          <a:ln/>
        </p:spPr>
        <p:txBody>
          <a:bodyPr wrap="square" lIns="0" tIns="0" rIns="0" bIns="0" rtlCol="0" anchor="t"/>
          <a:lstStyle/>
          <a:p>
            <a:pPr marL="0" indent="0">
              <a:buNone/>
            </a:pPr>
            <a:r>
              <a:rPr lang="en-US" sz="1400" dirty="0">
                <a:solidFill>
                  <a:schemeClr val="tx1"/>
                </a:solidFill>
              </a:rPr>
              <a:t>Rédige la réponse à partir du contexte</a:t>
            </a:r>
            <a:endParaRPr lang="en-US" sz="1400" dirty="0"/>
          </a:p>
        </p:txBody>
      </p:sp>
      <p:sp>
        <p:nvSpPr>
          <p:cNvPr id="33" name="Formule"/>
          <p:cNvSpPr txBox="1"/>
          <p:nvPr/>
        </p:nvSpPr>
        <p:spPr>
          <a:xfrm>
            <a:off x="548640" y="4114800"/>
            <a:ext cx="8046720" cy="411480"/>
          </a:xfrm>
          <a:prstGeom prst="rect">
            <a:avLst/>
          </a:prstGeom>
          <a:noFill/>
          <a:ln/>
        </p:spPr>
        <p:txBody>
          <a:bodyPr wrap="square" lIns="0" tIns="0" rIns="0" bIns="0" rtlCol="0" anchor="ctr"/>
          <a:lstStyle/>
          <a:p>
            <a:pPr marL="0" indent="0">
              <a:buNone/>
            </a:pPr>
            <a:r>
              <a:rPr lang="en-US" sz="1400" b="1" dirty="0">
                <a:solidFill>
                  <a:schemeClr val="tx2"/>
                </a:solidFill>
              </a:rPr>
              <a:t>Similarité cosinus : </a:t>
            </a:r>
            <a:r>
              <a:rPr lang="en-US" sz="1400" dirty="0">
                <a:solidFill>
                  <a:schemeClr val="tx1"/>
                </a:solidFill>
              </a:rPr>
              <a:t>cos(q, d) = q · d / (‖q‖ ‖d‖), on garde les K scores les plus élevés.</a:t>
            </a:r>
            <a:endParaRPr lang="en-US" sz="1400" dirty="0"/>
          </a:p>
        </p:txBody>
      </p:sp>
      <p:sp>
        <p:nvSpPr>
          <p:cNvPr id="34"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Annexe : formules du RAG</a:t>
            </a:r>
            <a:endParaRPr lang="en-US" sz="3000" dirty="0"/>
          </a:p>
        </p:txBody>
      </p:sp>
      <p:sp>
        <p:nvSpPr>
          <p:cNvPr id="3" name="Ligne Score de pertinence"/>
          <p:cNvSpPr/>
          <p:nvPr/>
        </p:nvSpPr>
        <p:spPr>
          <a:xfrm>
            <a:off x="548640" y="1188720"/>
            <a:ext cx="8046720" cy="786384"/>
          </a:xfrm>
          <a:prstGeom prst="roundRect">
            <a:avLst>
              <a:gd name="adj" fmla="val 11628"/>
            </a:avLst>
          </a:prstGeom>
          <a:solidFill>
            <a:schemeClr val="bg2"/>
          </a:solidFill>
          <a:ln/>
        </p:spPr>
        <p:txBody>
          <a:bodyPr/>
          <a:lstStyle/>
          <a:p>
            <a:endParaRPr lang="fr-FR"/>
          </a:p>
        </p:txBody>
      </p:sp>
      <p:sp>
        <p:nvSpPr>
          <p:cNvPr id="4" name="Libellé Score de pertinence"/>
          <p:cNvSpPr txBox="1"/>
          <p:nvPr/>
        </p:nvSpPr>
        <p:spPr>
          <a:xfrm>
            <a:off x="685800" y="1188720"/>
            <a:ext cx="2057400" cy="786384"/>
          </a:xfrm>
          <a:prstGeom prst="rect">
            <a:avLst/>
          </a:prstGeom>
          <a:noFill/>
          <a:ln/>
        </p:spPr>
        <p:txBody>
          <a:bodyPr wrap="square" lIns="0" tIns="0" rIns="0" bIns="0" rtlCol="0" anchor="ctr"/>
          <a:lstStyle/>
          <a:p>
            <a:pPr marL="0" indent="0">
              <a:buNone/>
            </a:pPr>
            <a:r>
              <a:rPr lang="en-US" sz="1400" b="1" dirty="0">
                <a:solidFill>
                  <a:schemeClr val="tx2"/>
                </a:solidFill>
              </a:rPr>
              <a:t>Score de pertinence</a:t>
            </a:r>
            <a:endParaRPr lang="en-US" sz="1400" dirty="0"/>
          </a:p>
          <a:p>
            <a:pPr marL="0" indent="0">
              <a:buNone/>
            </a:pPr>
            <a:r>
              <a:rPr lang="en-US" sz="1200" dirty="0">
                <a:solidFill>
                  <a:schemeClr val="tx1"/>
                </a:solidFill>
              </a:rPr>
              <a:t>encodeurs BERT, produit scalaire</a:t>
            </a:r>
            <a:endParaRPr lang="en-US" sz="1400" dirty="0"/>
          </a:p>
        </p:txBody>
      </p:sp>
      <p:sp>
        <p:nvSpPr>
          <p:cNvPr id="5" name="Zone Score de pertinence"/>
          <p:cNvSpPr/>
          <p:nvPr/>
        </p:nvSpPr>
        <p:spPr>
          <a:xfrm>
            <a:off x="2834640" y="1243584"/>
            <a:ext cx="5669280" cy="676656"/>
          </a:xfrm>
          <a:prstGeom prst="roundRect">
            <a:avLst>
              <a:gd name="adj" fmla="val 10811"/>
            </a:avLst>
          </a:prstGeom>
          <a:solidFill>
            <a:schemeClr val="bg1"/>
          </a:solidFill>
          <a:ln/>
        </p:spPr>
        <p:txBody>
          <a:bodyPr/>
          <a:lstStyle/>
          <a:p>
            <a:endParaRPr lang="fr-FR"/>
          </a:p>
        </p:txBody>
      </p:sp>
      <p:pic>
        <p:nvPicPr>
          <p:cNvPr id="6" name="Formule Score de pertinence" descr="Formule : Score de pertinence"/>
          <p:cNvPicPr>
            <a:picLocks noChangeAspect="1"/>
          </p:cNvPicPr>
          <p:nvPr/>
        </p:nvPicPr>
        <p:blipFill>
          <a:blip r:embed="rId3"/>
          <a:stretch>
            <a:fillRect/>
          </a:stretch>
        </p:blipFill>
        <p:spPr>
          <a:xfrm>
            <a:off x="2926080" y="1430772"/>
            <a:ext cx="5486400" cy="302281"/>
          </a:xfrm>
          <a:prstGeom prst="rect">
            <a:avLst/>
          </a:prstGeom>
        </p:spPr>
      </p:pic>
      <p:sp>
        <p:nvSpPr>
          <p:cNvPr id="7" name="Ligne Probabilité de récupération"/>
          <p:cNvSpPr/>
          <p:nvPr/>
        </p:nvSpPr>
        <p:spPr>
          <a:xfrm>
            <a:off x="548640" y="2048256"/>
            <a:ext cx="8046720" cy="786384"/>
          </a:xfrm>
          <a:prstGeom prst="roundRect">
            <a:avLst>
              <a:gd name="adj" fmla="val 11628"/>
            </a:avLst>
          </a:prstGeom>
          <a:solidFill>
            <a:schemeClr val="bg2"/>
          </a:solidFill>
          <a:ln/>
        </p:spPr>
        <p:txBody>
          <a:bodyPr/>
          <a:lstStyle/>
          <a:p>
            <a:endParaRPr lang="fr-FR"/>
          </a:p>
        </p:txBody>
      </p:sp>
      <p:sp>
        <p:nvSpPr>
          <p:cNvPr id="8" name="Libellé Probabilité de récupération"/>
          <p:cNvSpPr txBox="1"/>
          <p:nvPr/>
        </p:nvSpPr>
        <p:spPr>
          <a:xfrm>
            <a:off x="685800" y="2048256"/>
            <a:ext cx="2057400" cy="786384"/>
          </a:xfrm>
          <a:prstGeom prst="rect">
            <a:avLst/>
          </a:prstGeom>
          <a:noFill/>
          <a:ln/>
        </p:spPr>
        <p:txBody>
          <a:bodyPr wrap="square" lIns="0" tIns="0" rIns="0" bIns="0" rtlCol="0" anchor="ctr"/>
          <a:lstStyle/>
          <a:p>
            <a:pPr marL="0" indent="0">
              <a:buNone/>
            </a:pPr>
            <a:r>
              <a:rPr lang="en-US" sz="1400" b="1" dirty="0">
                <a:solidFill>
                  <a:schemeClr val="tx2"/>
                </a:solidFill>
              </a:rPr>
              <a:t>Probabilité de récupération</a:t>
            </a:r>
            <a:endParaRPr lang="en-US" sz="1400" dirty="0"/>
          </a:p>
          <a:p>
            <a:pPr marL="0" indent="0">
              <a:buNone/>
            </a:pPr>
            <a:r>
              <a:rPr lang="en-US" sz="1200" dirty="0">
                <a:solidFill>
                  <a:schemeClr val="tx1"/>
                </a:solidFill>
              </a:rPr>
              <a:t>softmax sur les K passages</a:t>
            </a:r>
            <a:endParaRPr lang="en-US" sz="1400" dirty="0"/>
          </a:p>
        </p:txBody>
      </p:sp>
      <p:sp>
        <p:nvSpPr>
          <p:cNvPr id="9" name="Zone Probabilité de récupération"/>
          <p:cNvSpPr/>
          <p:nvPr/>
        </p:nvSpPr>
        <p:spPr>
          <a:xfrm>
            <a:off x="2834640" y="2103120"/>
            <a:ext cx="5669280" cy="676656"/>
          </a:xfrm>
          <a:prstGeom prst="roundRect">
            <a:avLst>
              <a:gd name="adj" fmla="val 10811"/>
            </a:avLst>
          </a:prstGeom>
          <a:solidFill>
            <a:schemeClr val="bg1"/>
          </a:solidFill>
          <a:ln/>
        </p:spPr>
        <p:txBody>
          <a:bodyPr/>
          <a:lstStyle/>
          <a:p>
            <a:endParaRPr lang="fr-FR"/>
          </a:p>
        </p:txBody>
      </p:sp>
      <p:pic>
        <p:nvPicPr>
          <p:cNvPr id="10" name="Formule Probabilité de récupération" descr="Formule : Probabilité de récupération"/>
          <p:cNvPicPr>
            <a:picLocks noChangeAspect="1"/>
          </p:cNvPicPr>
          <p:nvPr/>
        </p:nvPicPr>
        <p:blipFill>
          <a:blip r:embed="rId4"/>
          <a:stretch>
            <a:fillRect/>
          </a:stretch>
        </p:blipFill>
        <p:spPr>
          <a:xfrm>
            <a:off x="4435568" y="2139696"/>
            <a:ext cx="2467423" cy="603504"/>
          </a:xfrm>
          <a:prstGeom prst="rect">
            <a:avLst/>
          </a:prstGeom>
        </p:spPr>
      </p:pic>
      <p:sp>
        <p:nvSpPr>
          <p:cNvPr id="11" name="Ligne RAG-Sequence"/>
          <p:cNvSpPr/>
          <p:nvPr/>
        </p:nvSpPr>
        <p:spPr>
          <a:xfrm>
            <a:off x="548640" y="2907792"/>
            <a:ext cx="8046720" cy="731520"/>
          </a:xfrm>
          <a:prstGeom prst="roundRect">
            <a:avLst>
              <a:gd name="adj" fmla="val 12500"/>
            </a:avLst>
          </a:prstGeom>
          <a:solidFill>
            <a:schemeClr val="bg2"/>
          </a:solidFill>
          <a:ln/>
        </p:spPr>
        <p:txBody>
          <a:bodyPr/>
          <a:lstStyle/>
          <a:p>
            <a:endParaRPr lang="fr-FR"/>
          </a:p>
        </p:txBody>
      </p:sp>
      <p:sp>
        <p:nvSpPr>
          <p:cNvPr id="12" name="Libellé RAG-Sequence"/>
          <p:cNvSpPr txBox="1"/>
          <p:nvPr/>
        </p:nvSpPr>
        <p:spPr>
          <a:xfrm>
            <a:off x="685800" y="2907792"/>
            <a:ext cx="2057400" cy="731520"/>
          </a:xfrm>
          <a:prstGeom prst="rect">
            <a:avLst/>
          </a:prstGeom>
          <a:noFill/>
          <a:ln/>
        </p:spPr>
        <p:txBody>
          <a:bodyPr wrap="square" lIns="0" tIns="0" rIns="0" bIns="0" rtlCol="0" anchor="ctr"/>
          <a:lstStyle/>
          <a:p>
            <a:pPr marL="0" indent="0">
              <a:buNone/>
            </a:pPr>
            <a:r>
              <a:rPr lang="en-US" sz="1400" b="1" dirty="0">
                <a:solidFill>
                  <a:schemeClr val="tx2"/>
                </a:solidFill>
              </a:rPr>
              <a:t>RAG-Sequence</a:t>
            </a:r>
            <a:endParaRPr lang="en-US" sz="1400" dirty="0"/>
          </a:p>
          <a:p>
            <a:pPr marL="0" indent="0">
              <a:buNone/>
            </a:pPr>
            <a:r>
              <a:rPr lang="en-US" sz="1200" dirty="0">
                <a:solidFill>
                  <a:schemeClr val="tx1"/>
                </a:solidFill>
              </a:rPr>
              <a:t>un passage pour toute la réponse</a:t>
            </a:r>
            <a:endParaRPr lang="en-US" sz="1400" dirty="0"/>
          </a:p>
        </p:txBody>
      </p:sp>
      <p:sp>
        <p:nvSpPr>
          <p:cNvPr id="13" name="Zone RAG-Sequence"/>
          <p:cNvSpPr/>
          <p:nvPr/>
        </p:nvSpPr>
        <p:spPr>
          <a:xfrm>
            <a:off x="2834640" y="2962656"/>
            <a:ext cx="5669280" cy="621792"/>
          </a:xfrm>
          <a:prstGeom prst="roundRect">
            <a:avLst>
              <a:gd name="adj" fmla="val 11765"/>
            </a:avLst>
          </a:prstGeom>
          <a:solidFill>
            <a:schemeClr val="bg1"/>
          </a:solidFill>
          <a:ln/>
        </p:spPr>
        <p:txBody>
          <a:bodyPr/>
          <a:lstStyle/>
          <a:p>
            <a:endParaRPr lang="fr-FR"/>
          </a:p>
        </p:txBody>
      </p:sp>
      <p:pic>
        <p:nvPicPr>
          <p:cNvPr id="14" name="Formule RAG-Sequence" descr="Formule : RAG-Sequence"/>
          <p:cNvPicPr>
            <a:picLocks noChangeAspect="1"/>
          </p:cNvPicPr>
          <p:nvPr/>
        </p:nvPicPr>
        <p:blipFill>
          <a:blip r:embed="rId5"/>
          <a:stretch>
            <a:fillRect/>
          </a:stretch>
        </p:blipFill>
        <p:spPr>
          <a:xfrm>
            <a:off x="3796748" y="2999232"/>
            <a:ext cx="3745064" cy="548640"/>
          </a:xfrm>
          <a:prstGeom prst="rect">
            <a:avLst/>
          </a:prstGeom>
        </p:spPr>
      </p:pic>
      <p:sp>
        <p:nvSpPr>
          <p:cNvPr id="15" name="Ligne RAG-Token"/>
          <p:cNvSpPr/>
          <p:nvPr/>
        </p:nvSpPr>
        <p:spPr>
          <a:xfrm>
            <a:off x="548640" y="3712464"/>
            <a:ext cx="8046720" cy="731520"/>
          </a:xfrm>
          <a:prstGeom prst="roundRect">
            <a:avLst>
              <a:gd name="adj" fmla="val 12500"/>
            </a:avLst>
          </a:prstGeom>
          <a:solidFill>
            <a:schemeClr val="bg2"/>
          </a:solidFill>
          <a:ln/>
        </p:spPr>
        <p:txBody>
          <a:bodyPr/>
          <a:lstStyle/>
          <a:p>
            <a:endParaRPr lang="fr-FR"/>
          </a:p>
        </p:txBody>
      </p:sp>
      <p:sp>
        <p:nvSpPr>
          <p:cNvPr id="16" name="Libellé RAG-Token"/>
          <p:cNvSpPr txBox="1"/>
          <p:nvPr/>
        </p:nvSpPr>
        <p:spPr>
          <a:xfrm>
            <a:off x="685800" y="3712464"/>
            <a:ext cx="2057400" cy="731520"/>
          </a:xfrm>
          <a:prstGeom prst="rect">
            <a:avLst/>
          </a:prstGeom>
          <a:noFill/>
          <a:ln/>
        </p:spPr>
        <p:txBody>
          <a:bodyPr wrap="square" lIns="0" tIns="0" rIns="0" bIns="0" rtlCol="0" anchor="ctr"/>
          <a:lstStyle/>
          <a:p>
            <a:pPr marL="0" indent="0">
              <a:buNone/>
            </a:pPr>
            <a:r>
              <a:rPr lang="en-US" sz="1400" b="1" dirty="0">
                <a:solidFill>
                  <a:schemeClr val="tx2"/>
                </a:solidFill>
              </a:rPr>
              <a:t>RAG-Token</a:t>
            </a:r>
            <a:endParaRPr lang="en-US" sz="1400" dirty="0"/>
          </a:p>
          <a:p>
            <a:pPr marL="0" indent="0">
              <a:buNone/>
            </a:pPr>
            <a:r>
              <a:rPr lang="en-US" sz="1200" dirty="0">
                <a:solidFill>
                  <a:schemeClr val="tx1"/>
                </a:solidFill>
              </a:rPr>
              <a:t>un passage possible par mot</a:t>
            </a:r>
            <a:endParaRPr lang="en-US" sz="1400" dirty="0"/>
          </a:p>
        </p:txBody>
      </p:sp>
      <p:sp>
        <p:nvSpPr>
          <p:cNvPr id="17" name="Zone RAG-Token"/>
          <p:cNvSpPr/>
          <p:nvPr/>
        </p:nvSpPr>
        <p:spPr>
          <a:xfrm>
            <a:off x="2834640" y="3767328"/>
            <a:ext cx="5669280" cy="621792"/>
          </a:xfrm>
          <a:prstGeom prst="roundRect">
            <a:avLst>
              <a:gd name="adj" fmla="val 11765"/>
            </a:avLst>
          </a:prstGeom>
          <a:solidFill>
            <a:schemeClr val="bg1"/>
          </a:solidFill>
          <a:ln/>
        </p:spPr>
        <p:txBody>
          <a:bodyPr/>
          <a:lstStyle/>
          <a:p>
            <a:endParaRPr lang="fr-FR"/>
          </a:p>
        </p:txBody>
      </p:sp>
      <p:pic>
        <p:nvPicPr>
          <p:cNvPr id="18" name="Formule RAG-Token" descr="Formule : RAG-Token"/>
          <p:cNvPicPr>
            <a:picLocks noChangeAspect="1"/>
          </p:cNvPicPr>
          <p:nvPr/>
        </p:nvPicPr>
        <p:blipFill>
          <a:blip r:embed="rId6"/>
          <a:stretch>
            <a:fillRect/>
          </a:stretch>
        </p:blipFill>
        <p:spPr>
          <a:xfrm>
            <a:off x="3764220" y="3803904"/>
            <a:ext cx="3810120" cy="548640"/>
          </a:xfrm>
          <a:prstGeom prst="rect">
            <a:avLst/>
          </a:prstGeom>
        </p:spPr>
      </p:pic>
      <p:sp>
        <p:nvSpPr>
          <p:cNvPr id="19" name="Légende formules"/>
          <p:cNvSpPr txBox="1"/>
          <p:nvPr/>
        </p:nvSpPr>
        <p:spPr>
          <a:xfrm>
            <a:off x="548640" y="4462272"/>
            <a:ext cx="8046720" cy="256032"/>
          </a:xfrm>
          <a:prstGeom prst="rect">
            <a:avLst/>
          </a:prstGeom>
          <a:noFill/>
          <a:ln/>
        </p:spPr>
        <p:txBody>
          <a:bodyPr wrap="square" lIns="0" tIns="0" rIns="0" bIns="0" rtlCol="0" anchor="ctr"/>
          <a:lstStyle/>
          <a:p>
            <a:pPr marL="0" indent="0">
              <a:buNone/>
            </a:pPr>
            <a:r>
              <a:rPr lang="en-US" sz="1200" i="1" dirty="0">
                <a:solidFill>
                  <a:schemeClr val="tx2"/>
                </a:solidFill>
              </a:rPr>
              <a:t>x : question  ·  z : passage  ·  y : réponse  ·  η : paramètres du retriever  ·  θ : paramètres du générateur</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Annexe : formules du RAG multimodal</a:t>
            </a:r>
            <a:endParaRPr lang="en-US" sz="3000" dirty="0"/>
          </a:p>
        </p:txBody>
      </p:sp>
      <p:sp>
        <p:nvSpPr>
          <p:cNvPr id="3" name="Ligne Perte contrastive (CLIP)"/>
          <p:cNvSpPr/>
          <p:nvPr/>
        </p:nvSpPr>
        <p:spPr>
          <a:xfrm>
            <a:off x="548640" y="1188720"/>
            <a:ext cx="8046720" cy="960120"/>
          </a:xfrm>
          <a:prstGeom prst="roundRect">
            <a:avLst>
              <a:gd name="adj" fmla="val 9524"/>
            </a:avLst>
          </a:prstGeom>
          <a:solidFill>
            <a:schemeClr val="bg2"/>
          </a:solidFill>
          <a:ln/>
        </p:spPr>
        <p:txBody>
          <a:bodyPr/>
          <a:lstStyle/>
          <a:p>
            <a:endParaRPr lang="fr-FR"/>
          </a:p>
        </p:txBody>
      </p:sp>
      <p:sp>
        <p:nvSpPr>
          <p:cNvPr id="4" name="Libellé Perte contrastive (CLIP)"/>
          <p:cNvSpPr txBox="1"/>
          <p:nvPr/>
        </p:nvSpPr>
        <p:spPr>
          <a:xfrm>
            <a:off x="685800" y="1188720"/>
            <a:ext cx="2057400" cy="960120"/>
          </a:xfrm>
          <a:prstGeom prst="rect">
            <a:avLst/>
          </a:prstGeom>
          <a:noFill/>
          <a:ln/>
        </p:spPr>
        <p:txBody>
          <a:bodyPr wrap="square" lIns="0" tIns="0" rIns="0" bIns="0" rtlCol="0" anchor="ctr"/>
          <a:lstStyle/>
          <a:p>
            <a:pPr marL="0" indent="0">
              <a:buNone/>
            </a:pPr>
            <a:r>
              <a:rPr lang="en-US" sz="1400" b="1" dirty="0">
                <a:solidFill>
                  <a:schemeClr val="tx2"/>
                </a:solidFill>
              </a:rPr>
              <a:t>Perte contrastive (CLIP)</a:t>
            </a:r>
            <a:endParaRPr lang="en-US" sz="1400" dirty="0"/>
          </a:p>
          <a:p>
            <a:pPr marL="0" indent="0">
              <a:buNone/>
            </a:pPr>
            <a:r>
              <a:rPr lang="en-US" sz="1200" dirty="0">
                <a:solidFill>
                  <a:schemeClr val="tx1"/>
                </a:solidFill>
              </a:rPr>
              <a:t>rapproche image et texte du même couple</a:t>
            </a:r>
            <a:endParaRPr lang="en-US" sz="1400" dirty="0"/>
          </a:p>
        </p:txBody>
      </p:sp>
      <p:sp>
        <p:nvSpPr>
          <p:cNvPr id="5" name="Zone Perte contrastive (CLIP)"/>
          <p:cNvSpPr/>
          <p:nvPr/>
        </p:nvSpPr>
        <p:spPr>
          <a:xfrm>
            <a:off x="2834640" y="1243584"/>
            <a:ext cx="5669280" cy="850392"/>
          </a:xfrm>
          <a:prstGeom prst="roundRect">
            <a:avLst>
              <a:gd name="adj" fmla="val 8602"/>
            </a:avLst>
          </a:prstGeom>
          <a:solidFill>
            <a:schemeClr val="bg1"/>
          </a:solidFill>
          <a:ln/>
        </p:spPr>
        <p:txBody>
          <a:bodyPr/>
          <a:lstStyle/>
          <a:p>
            <a:endParaRPr lang="fr-FR"/>
          </a:p>
        </p:txBody>
      </p:sp>
      <p:pic>
        <p:nvPicPr>
          <p:cNvPr id="6" name="Formule Perte contrastive (CLIP)" descr="Formule : Perte contrastive (CLIP)"/>
          <p:cNvPicPr>
            <a:picLocks noChangeAspect="1"/>
          </p:cNvPicPr>
          <p:nvPr/>
        </p:nvPicPr>
        <p:blipFill>
          <a:blip r:embed="rId3"/>
          <a:stretch>
            <a:fillRect/>
          </a:stretch>
        </p:blipFill>
        <p:spPr>
          <a:xfrm>
            <a:off x="3956923" y="1280160"/>
            <a:ext cx="3424714" cy="777240"/>
          </a:xfrm>
          <a:prstGeom prst="rect">
            <a:avLst/>
          </a:prstGeom>
        </p:spPr>
      </p:pic>
      <p:sp>
        <p:nvSpPr>
          <p:cNvPr id="7" name="Ligne ALBEF (cas médical)"/>
          <p:cNvSpPr/>
          <p:nvPr/>
        </p:nvSpPr>
        <p:spPr>
          <a:xfrm>
            <a:off x="548640" y="2240280"/>
            <a:ext cx="8046720" cy="658368"/>
          </a:xfrm>
          <a:prstGeom prst="roundRect">
            <a:avLst>
              <a:gd name="adj" fmla="val 13889"/>
            </a:avLst>
          </a:prstGeom>
          <a:solidFill>
            <a:schemeClr val="bg2"/>
          </a:solidFill>
          <a:ln/>
        </p:spPr>
        <p:txBody>
          <a:bodyPr/>
          <a:lstStyle/>
          <a:p>
            <a:endParaRPr lang="fr-FR"/>
          </a:p>
        </p:txBody>
      </p:sp>
      <p:sp>
        <p:nvSpPr>
          <p:cNvPr id="8" name="Libellé ALBEF (cas médical)"/>
          <p:cNvSpPr txBox="1"/>
          <p:nvPr/>
        </p:nvSpPr>
        <p:spPr>
          <a:xfrm>
            <a:off x="685800" y="2240280"/>
            <a:ext cx="2057400" cy="658368"/>
          </a:xfrm>
          <a:prstGeom prst="rect">
            <a:avLst/>
          </a:prstGeom>
          <a:noFill/>
          <a:ln/>
        </p:spPr>
        <p:txBody>
          <a:bodyPr wrap="square" lIns="0" tIns="0" rIns="0" bIns="0" rtlCol="0" anchor="ctr"/>
          <a:lstStyle/>
          <a:p>
            <a:pPr marL="0" indent="0">
              <a:buNone/>
            </a:pPr>
            <a:r>
              <a:rPr lang="en-US" sz="1400" b="1" dirty="0">
                <a:solidFill>
                  <a:schemeClr val="tx2"/>
                </a:solidFill>
              </a:rPr>
              <a:t>ALBEF (cas médical)</a:t>
            </a:r>
            <a:endParaRPr lang="en-US" sz="1400" dirty="0"/>
          </a:p>
          <a:p>
            <a:pPr marL="0" indent="0">
              <a:buNone/>
            </a:pPr>
            <a:r>
              <a:rPr lang="en-US" sz="1200" dirty="0">
                <a:solidFill>
                  <a:schemeClr val="tx1"/>
                </a:solidFill>
              </a:rPr>
              <a:t>trois pertes combinées</a:t>
            </a:r>
            <a:endParaRPr lang="en-US" sz="1400" dirty="0"/>
          </a:p>
        </p:txBody>
      </p:sp>
      <p:sp>
        <p:nvSpPr>
          <p:cNvPr id="9" name="Zone ALBEF (cas médical)"/>
          <p:cNvSpPr/>
          <p:nvPr/>
        </p:nvSpPr>
        <p:spPr>
          <a:xfrm>
            <a:off x="2834640" y="2295144"/>
            <a:ext cx="5669280" cy="548640"/>
          </a:xfrm>
          <a:prstGeom prst="roundRect">
            <a:avLst>
              <a:gd name="adj" fmla="val 13333"/>
            </a:avLst>
          </a:prstGeom>
          <a:solidFill>
            <a:schemeClr val="bg1"/>
          </a:solidFill>
          <a:ln/>
        </p:spPr>
        <p:txBody>
          <a:bodyPr/>
          <a:lstStyle/>
          <a:p>
            <a:endParaRPr lang="fr-FR"/>
          </a:p>
        </p:txBody>
      </p:sp>
      <p:pic>
        <p:nvPicPr>
          <p:cNvPr id="10" name="Formule ALBEF (cas médical)" descr="Formule : ALBEF (cas médical)"/>
          <p:cNvPicPr>
            <a:picLocks noChangeAspect="1"/>
          </p:cNvPicPr>
          <p:nvPr/>
        </p:nvPicPr>
        <p:blipFill>
          <a:blip r:embed="rId4"/>
          <a:stretch>
            <a:fillRect/>
          </a:stretch>
        </p:blipFill>
        <p:spPr>
          <a:xfrm>
            <a:off x="4149852" y="2417064"/>
            <a:ext cx="3038856" cy="304800"/>
          </a:xfrm>
          <a:prstGeom prst="rect">
            <a:avLst/>
          </a:prstGeom>
        </p:spPr>
      </p:pic>
      <p:sp>
        <p:nvSpPr>
          <p:cNvPr id="11" name="Ligne Late interaction (ColPali)"/>
          <p:cNvSpPr/>
          <p:nvPr/>
        </p:nvSpPr>
        <p:spPr>
          <a:xfrm>
            <a:off x="548640" y="2990088"/>
            <a:ext cx="8046720" cy="658368"/>
          </a:xfrm>
          <a:prstGeom prst="roundRect">
            <a:avLst>
              <a:gd name="adj" fmla="val 13889"/>
            </a:avLst>
          </a:prstGeom>
          <a:solidFill>
            <a:schemeClr val="bg2"/>
          </a:solidFill>
          <a:ln/>
        </p:spPr>
        <p:txBody>
          <a:bodyPr/>
          <a:lstStyle/>
          <a:p>
            <a:endParaRPr lang="fr-FR"/>
          </a:p>
        </p:txBody>
      </p:sp>
      <p:sp>
        <p:nvSpPr>
          <p:cNvPr id="12" name="Libellé Late interaction (ColPali)"/>
          <p:cNvSpPr txBox="1"/>
          <p:nvPr/>
        </p:nvSpPr>
        <p:spPr>
          <a:xfrm>
            <a:off x="685800" y="2990088"/>
            <a:ext cx="2057400" cy="658368"/>
          </a:xfrm>
          <a:prstGeom prst="rect">
            <a:avLst/>
          </a:prstGeom>
          <a:noFill/>
          <a:ln/>
        </p:spPr>
        <p:txBody>
          <a:bodyPr wrap="square" lIns="0" tIns="0" rIns="0" bIns="0" rtlCol="0" anchor="ctr"/>
          <a:lstStyle/>
          <a:p>
            <a:pPr marL="0" indent="0">
              <a:buNone/>
            </a:pPr>
            <a:r>
              <a:rPr lang="en-US" sz="1400" b="1" dirty="0">
                <a:solidFill>
                  <a:schemeClr val="tx2"/>
                </a:solidFill>
              </a:rPr>
              <a:t>Late interaction (ColPali)</a:t>
            </a:r>
            <a:endParaRPr lang="en-US" sz="1400" dirty="0"/>
          </a:p>
          <a:p>
            <a:pPr marL="0" indent="0">
              <a:buNone/>
            </a:pPr>
            <a:r>
              <a:rPr lang="en-US" sz="1200" dirty="0">
                <a:solidFill>
                  <a:schemeClr val="tx1"/>
                </a:solidFill>
              </a:rPr>
              <a:t>somme des similarités max</a:t>
            </a:r>
            <a:endParaRPr lang="en-US" sz="1400" dirty="0"/>
          </a:p>
        </p:txBody>
      </p:sp>
      <p:sp>
        <p:nvSpPr>
          <p:cNvPr id="13" name="Zone Late interaction (ColPali)"/>
          <p:cNvSpPr/>
          <p:nvPr/>
        </p:nvSpPr>
        <p:spPr>
          <a:xfrm>
            <a:off x="2834640" y="3044952"/>
            <a:ext cx="5669280" cy="548640"/>
          </a:xfrm>
          <a:prstGeom prst="roundRect">
            <a:avLst>
              <a:gd name="adj" fmla="val 13333"/>
            </a:avLst>
          </a:prstGeom>
          <a:solidFill>
            <a:schemeClr val="bg1"/>
          </a:solidFill>
          <a:ln/>
        </p:spPr>
        <p:txBody>
          <a:bodyPr/>
          <a:lstStyle/>
          <a:p>
            <a:endParaRPr lang="fr-FR"/>
          </a:p>
        </p:txBody>
      </p:sp>
      <p:pic>
        <p:nvPicPr>
          <p:cNvPr id="14" name="Formule Late interaction (ColPali)" descr="Formule : Late interaction (ColPali)"/>
          <p:cNvPicPr>
            <a:picLocks noChangeAspect="1"/>
          </p:cNvPicPr>
          <p:nvPr/>
        </p:nvPicPr>
        <p:blipFill>
          <a:blip r:embed="rId5"/>
          <a:stretch>
            <a:fillRect/>
          </a:stretch>
        </p:blipFill>
        <p:spPr>
          <a:xfrm>
            <a:off x="4617194" y="3081528"/>
            <a:ext cx="2104171" cy="475488"/>
          </a:xfrm>
          <a:prstGeom prst="rect">
            <a:avLst/>
          </a:prstGeom>
        </p:spPr>
      </p:pic>
      <p:sp>
        <p:nvSpPr>
          <p:cNvPr id="15" name="Ligne RAG multimodal"/>
          <p:cNvSpPr/>
          <p:nvPr/>
        </p:nvSpPr>
        <p:spPr>
          <a:xfrm>
            <a:off x="548640" y="3739896"/>
            <a:ext cx="8046720" cy="704088"/>
          </a:xfrm>
          <a:prstGeom prst="roundRect">
            <a:avLst>
              <a:gd name="adj" fmla="val 12987"/>
            </a:avLst>
          </a:prstGeom>
          <a:solidFill>
            <a:schemeClr val="bg2"/>
          </a:solidFill>
          <a:ln/>
        </p:spPr>
        <p:txBody>
          <a:bodyPr/>
          <a:lstStyle/>
          <a:p>
            <a:endParaRPr lang="fr-FR"/>
          </a:p>
        </p:txBody>
      </p:sp>
      <p:sp>
        <p:nvSpPr>
          <p:cNvPr id="16" name="Libellé RAG multimodal"/>
          <p:cNvSpPr txBox="1"/>
          <p:nvPr/>
        </p:nvSpPr>
        <p:spPr>
          <a:xfrm>
            <a:off x="685800" y="3739896"/>
            <a:ext cx="2057400" cy="704088"/>
          </a:xfrm>
          <a:prstGeom prst="rect">
            <a:avLst/>
          </a:prstGeom>
          <a:noFill/>
          <a:ln/>
        </p:spPr>
        <p:txBody>
          <a:bodyPr wrap="square" lIns="0" tIns="0" rIns="0" bIns="0" rtlCol="0" anchor="ctr"/>
          <a:lstStyle/>
          <a:p>
            <a:pPr marL="0" indent="0">
              <a:buNone/>
            </a:pPr>
            <a:r>
              <a:rPr lang="en-US" sz="1400" b="1" dirty="0">
                <a:solidFill>
                  <a:schemeClr val="tx2"/>
                </a:solidFill>
              </a:rPr>
              <a:t>RAG multimodal</a:t>
            </a:r>
            <a:endParaRPr lang="en-US" sz="1400" dirty="0"/>
          </a:p>
          <a:p>
            <a:pPr marL="0" indent="0">
              <a:buNone/>
            </a:pPr>
            <a:r>
              <a:rPr lang="en-US" sz="1200" dirty="0">
                <a:solidFill>
                  <a:schemeClr val="tx1"/>
                </a:solidFill>
              </a:rPr>
              <a:t>requête image, réponse texte</a:t>
            </a:r>
            <a:endParaRPr lang="en-US" sz="1400" dirty="0"/>
          </a:p>
        </p:txBody>
      </p:sp>
      <p:sp>
        <p:nvSpPr>
          <p:cNvPr id="17" name="Zone RAG multimodal"/>
          <p:cNvSpPr/>
          <p:nvPr/>
        </p:nvSpPr>
        <p:spPr>
          <a:xfrm>
            <a:off x="2834640" y="3794760"/>
            <a:ext cx="5669280" cy="594360"/>
          </a:xfrm>
          <a:prstGeom prst="roundRect">
            <a:avLst>
              <a:gd name="adj" fmla="val 12308"/>
            </a:avLst>
          </a:prstGeom>
          <a:solidFill>
            <a:schemeClr val="bg1"/>
          </a:solidFill>
          <a:ln/>
        </p:spPr>
        <p:txBody>
          <a:bodyPr/>
          <a:lstStyle/>
          <a:p>
            <a:endParaRPr lang="fr-FR"/>
          </a:p>
        </p:txBody>
      </p:sp>
      <p:pic>
        <p:nvPicPr>
          <p:cNvPr id="18" name="Formule RAG multimodal" descr="Formule : RAG multimodal"/>
          <p:cNvPicPr>
            <a:picLocks noChangeAspect="1"/>
          </p:cNvPicPr>
          <p:nvPr/>
        </p:nvPicPr>
        <p:blipFill>
          <a:blip r:embed="rId6"/>
          <a:stretch>
            <a:fillRect/>
          </a:stretch>
        </p:blipFill>
        <p:spPr>
          <a:xfrm>
            <a:off x="3727912" y="3831336"/>
            <a:ext cx="3882736" cy="521208"/>
          </a:xfrm>
          <a:prstGeom prst="rect">
            <a:avLst/>
          </a:prstGeom>
        </p:spPr>
      </p:pic>
      <p:sp>
        <p:nvSpPr>
          <p:cNvPr id="19" name="Légende formules"/>
          <p:cNvSpPr txBox="1"/>
          <p:nvPr/>
        </p:nvSpPr>
        <p:spPr>
          <a:xfrm>
            <a:off x="548640" y="4462272"/>
            <a:ext cx="8046720" cy="256032"/>
          </a:xfrm>
          <a:prstGeom prst="rect">
            <a:avLst/>
          </a:prstGeom>
          <a:noFill/>
          <a:ln/>
        </p:spPr>
        <p:txBody>
          <a:bodyPr wrap="square" lIns="0" tIns="0" rIns="0" bIns="0" rtlCol="0" anchor="ctr"/>
          <a:lstStyle/>
          <a:p>
            <a:pPr marL="0" indent="0">
              <a:buNone/>
            </a:pPr>
            <a:r>
              <a:rPr lang="en-US" sz="1200" i="1" dirty="0">
                <a:solidFill>
                  <a:schemeClr val="tx2"/>
                </a:solidFill>
              </a:rPr>
              <a:t>x_img : image de requête  ·  τ : température  ·  E_q, E_d : vecteurs de la requête et de la page  ·  q : consigne</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000" b="1" dirty="0">
                <a:solidFill>
                  <a:schemeClr val="tx2"/>
                </a:solidFill>
              </a:rPr>
              <a:t>Annexe : formules de CXR-RePaiR-Gen</a:t>
            </a:r>
            <a:endParaRPr lang="en-US" sz="3000" dirty="0"/>
          </a:p>
        </p:txBody>
      </p:sp>
      <p:sp>
        <p:nvSpPr>
          <p:cNvPr id="3" name="Ligne Top-K phrases"/>
          <p:cNvSpPr/>
          <p:nvPr/>
        </p:nvSpPr>
        <p:spPr>
          <a:xfrm>
            <a:off x="548640" y="1188720"/>
            <a:ext cx="8046720" cy="914400"/>
          </a:xfrm>
          <a:prstGeom prst="roundRect">
            <a:avLst>
              <a:gd name="adj" fmla="val 10000"/>
            </a:avLst>
          </a:prstGeom>
          <a:solidFill>
            <a:schemeClr val="bg2"/>
          </a:solidFill>
          <a:ln/>
        </p:spPr>
        <p:txBody>
          <a:bodyPr/>
          <a:lstStyle/>
          <a:p>
            <a:endParaRPr lang="fr-FR"/>
          </a:p>
        </p:txBody>
      </p:sp>
      <p:sp>
        <p:nvSpPr>
          <p:cNvPr id="4" name="Libellé Top-K phrases"/>
          <p:cNvSpPr txBox="1"/>
          <p:nvPr/>
        </p:nvSpPr>
        <p:spPr>
          <a:xfrm>
            <a:off x="685800" y="1188720"/>
            <a:ext cx="2057400" cy="914400"/>
          </a:xfrm>
          <a:prstGeom prst="rect">
            <a:avLst/>
          </a:prstGeom>
          <a:noFill/>
          <a:ln/>
        </p:spPr>
        <p:txBody>
          <a:bodyPr wrap="square" lIns="0" tIns="0" rIns="0" bIns="0" rtlCol="0" anchor="ctr"/>
          <a:lstStyle/>
          <a:p>
            <a:pPr marL="0" indent="0">
              <a:buNone/>
            </a:pPr>
            <a:r>
              <a:rPr lang="en-US" sz="1400" b="1" dirty="0">
                <a:solidFill>
                  <a:schemeClr val="tx2"/>
                </a:solidFill>
              </a:rPr>
              <a:t>Top-K phrases</a:t>
            </a:r>
            <a:endParaRPr lang="en-US" sz="1400" dirty="0"/>
          </a:p>
          <a:p>
            <a:pPr marL="0" indent="0">
              <a:buNone/>
            </a:pPr>
            <a:r>
              <a:rPr lang="en-US" sz="1200" dirty="0">
                <a:solidFill>
                  <a:schemeClr val="tx1"/>
                </a:solidFill>
              </a:rPr>
              <a:t>produit scalaire image-texte</a:t>
            </a:r>
            <a:endParaRPr lang="en-US" sz="1400" dirty="0"/>
          </a:p>
        </p:txBody>
      </p:sp>
      <p:sp>
        <p:nvSpPr>
          <p:cNvPr id="5" name="Zone Top-K phrases"/>
          <p:cNvSpPr/>
          <p:nvPr/>
        </p:nvSpPr>
        <p:spPr>
          <a:xfrm>
            <a:off x="2834640" y="1243584"/>
            <a:ext cx="5669280" cy="804672"/>
          </a:xfrm>
          <a:prstGeom prst="roundRect">
            <a:avLst>
              <a:gd name="adj" fmla="val 9091"/>
            </a:avLst>
          </a:prstGeom>
          <a:solidFill>
            <a:schemeClr val="bg1"/>
          </a:solidFill>
          <a:ln/>
        </p:spPr>
        <p:txBody>
          <a:bodyPr/>
          <a:lstStyle/>
          <a:p>
            <a:endParaRPr lang="fr-FR"/>
          </a:p>
        </p:txBody>
      </p:sp>
      <p:pic>
        <p:nvPicPr>
          <p:cNvPr id="6" name="Formule Top-K phrases" descr="Formule : Top-K phrases"/>
          <p:cNvPicPr>
            <a:picLocks noChangeAspect="1"/>
          </p:cNvPicPr>
          <p:nvPr/>
        </p:nvPicPr>
        <p:blipFill>
          <a:blip r:embed="rId3"/>
          <a:stretch>
            <a:fillRect/>
          </a:stretch>
        </p:blipFill>
        <p:spPr>
          <a:xfrm>
            <a:off x="2926080" y="1512431"/>
            <a:ext cx="5486400" cy="266978"/>
          </a:xfrm>
          <a:prstGeom prst="rect">
            <a:avLst/>
          </a:prstGeom>
        </p:spPr>
      </p:pic>
      <p:sp>
        <p:nvSpPr>
          <p:cNvPr id="7" name="Ligne Impression générée"/>
          <p:cNvSpPr/>
          <p:nvPr/>
        </p:nvSpPr>
        <p:spPr>
          <a:xfrm>
            <a:off x="548640" y="2194560"/>
            <a:ext cx="8046720" cy="914400"/>
          </a:xfrm>
          <a:prstGeom prst="roundRect">
            <a:avLst>
              <a:gd name="adj" fmla="val 10000"/>
            </a:avLst>
          </a:prstGeom>
          <a:solidFill>
            <a:schemeClr val="bg2"/>
          </a:solidFill>
          <a:ln/>
        </p:spPr>
        <p:txBody>
          <a:bodyPr/>
          <a:lstStyle/>
          <a:p>
            <a:endParaRPr lang="fr-FR"/>
          </a:p>
        </p:txBody>
      </p:sp>
      <p:sp>
        <p:nvSpPr>
          <p:cNvPr id="8" name="Libellé Impression générée"/>
          <p:cNvSpPr txBox="1"/>
          <p:nvPr/>
        </p:nvSpPr>
        <p:spPr>
          <a:xfrm>
            <a:off x="685800" y="2194560"/>
            <a:ext cx="2057400" cy="914400"/>
          </a:xfrm>
          <a:prstGeom prst="rect">
            <a:avLst/>
          </a:prstGeom>
          <a:noFill/>
          <a:ln/>
        </p:spPr>
        <p:txBody>
          <a:bodyPr wrap="square" lIns="0" tIns="0" rIns="0" bIns="0" rtlCol="0" anchor="ctr"/>
          <a:lstStyle/>
          <a:p>
            <a:pPr marL="0" indent="0">
              <a:buNone/>
            </a:pPr>
            <a:r>
              <a:rPr lang="en-US" sz="1400" b="1" dirty="0">
                <a:solidFill>
                  <a:schemeClr val="tx2"/>
                </a:solidFill>
              </a:rPr>
              <a:t>Impression générée</a:t>
            </a:r>
            <a:endParaRPr lang="en-US" sz="1400" dirty="0"/>
          </a:p>
          <a:p>
            <a:pPr marL="0" indent="0">
              <a:buNone/>
            </a:pPr>
            <a:r>
              <a:rPr lang="en-US" sz="1200" dirty="0">
                <a:solidFill>
                  <a:schemeClr val="tx1"/>
                </a:solidFill>
              </a:rPr>
              <a:t>LLM + prompt</a:t>
            </a:r>
            <a:endParaRPr lang="en-US" sz="1400" dirty="0"/>
          </a:p>
        </p:txBody>
      </p:sp>
      <p:sp>
        <p:nvSpPr>
          <p:cNvPr id="9" name="Zone Impression générée"/>
          <p:cNvSpPr/>
          <p:nvPr/>
        </p:nvSpPr>
        <p:spPr>
          <a:xfrm>
            <a:off x="2834640" y="2249424"/>
            <a:ext cx="5669280" cy="804672"/>
          </a:xfrm>
          <a:prstGeom prst="roundRect">
            <a:avLst>
              <a:gd name="adj" fmla="val 9091"/>
            </a:avLst>
          </a:prstGeom>
          <a:solidFill>
            <a:schemeClr val="bg1"/>
          </a:solidFill>
          <a:ln/>
        </p:spPr>
        <p:txBody>
          <a:bodyPr/>
          <a:lstStyle/>
          <a:p>
            <a:endParaRPr lang="fr-FR"/>
          </a:p>
        </p:txBody>
      </p:sp>
      <p:pic>
        <p:nvPicPr>
          <p:cNvPr id="10" name="Formule Impression générée" descr="Formule : Impression générée"/>
          <p:cNvPicPr>
            <a:picLocks noChangeAspect="1"/>
          </p:cNvPicPr>
          <p:nvPr/>
        </p:nvPicPr>
        <p:blipFill>
          <a:blip r:embed="rId4"/>
          <a:stretch>
            <a:fillRect/>
          </a:stretch>
        </p:blipFill>
        <p:spPr>
          <a:xfrm>
            <a:off x="4352544" y="2286000"/>
            <a:ext cx="2633472" cy="731520"/>
          </a:xfrm>
          <a:prstGeom prst="rect">
            <a:avLst/>
          </a:prstGeom>
        </p:spPr>
      </p:pic>
      <p:sp>
        <p:nvSpPr>
          <p:cNvPr id="11" name="Ligne Mode « refine »"/>
          <p:cNvSpPr/>
          <p:nvPr/>
        </p:nvSpPr>
        <p:spPr>
          <a:xfrm>
            <a:off x="548640" y="3200400"/>
            <a:ext cx="8046720" cy="822960"/>
          </a:xfrm>
          <a:prstGeom prst="roundRect">
            <a:avLst>
              <a:gd name="adj" fmla="val 11111"/>
            </a:avLst>
          </a:prstGeom>
          <a:solidFill>
            <a:schemeClr val="bg2"/>
          </a:solidFill>
          <a:ln/>
        </p:spPr>
        <p:txBody>
          <a:bodyPr/>
          <a:lstStyle/>
          <a:p>
            <a:endParaRPr lang="fr-FR"/>
          </a:p>
        </p:txBody>
      </p:sp>
      <p:sp>
        <p:nvSpPr>
          <p:cNvPr id="12" name="Libellé Mode « refine »"/>
          <p:cNvSpPr txBox="1"/>
          <p:nvPr/>
        </p:nvSpPr>
        <p:spPr>
          <a:xfrm>
            <a:off x="685800" y="3200400"/>
            <a:ext cx="2057400" cy="822960"/>
          </a:xfrm>
          <a:prstGeom prst="rect">
            <a:avLst/>
          </a:prstGeom>
          <a:noFill/>
          <a:ln/>
        </p:spPr>
        <p:txBody>
          <a:bodyPr wrap="square" lIns="0" tIns="0" rIns="0" bIns="0" rtlCol="0" anchor="ctr"/>
          <a:lstStyle/>
          <a:p>
            <a:pPr marL="0" indent="0">
              <a:buNone/>
            </a:pPr>
            <a:r>
              <a:rPr lang="en-US" sz="1400" b="1" dirty="0">
                <a:solidFill>
                  <a:schemeClr val="tx2"/>
                </a:solidFill>
              </a:rPr>
              <a:t>Mode « refine »</a:t>
            </a:r>
            <a:endParaRPr lang="en-US" sz="1400" dirty="0"/>
          </a:p>
          <a:p>
            <a:pPr marL="0" indent="0">
              <a:buNone/>
            </a:pPr>
            <a:r>
              <a:rPr lang="en-US" sz="1200" dirty="0">
                <a:solidFill>
                  <a:schemeClr val="tx1"/>
                </a:solidFill>
              </a:rPr>
              <a:t>contexte trop long pour le LLM</a:t>
            </a:r>
            <a:endParaRPr lang="en-US" sz="1400" dirty="0"/>
          </a:p>
        </p:txBody>
      </p:sp>
      <p:sp>
        <p:nvSpPr>
          <p:cNvPr id="13" name="Zone Mode « refine »"/>
          <p:cNvSpPr/>
          <p:nvPr/>
        </p:nvSpPr>
        <p:spPr>
          <a:xfrm>
            <a:off x="2834640" y="3255264"/>
            <a:ext cx="5669280" cy="713232"/>
          </a:xfrm>
          <a:prstGeom prst="roundRect">
            <a:avLst>
              <a:gd name="adj" fmla="val 10256"/>
            </a:avLst>
          </a:prstGeom>
          <a:solidFill>
            <a:schemeClr val="bg1"/>
          </a:solidFill>
          <a:ln/>
        </p:spPr>
        <p:txBody>
          <a:bodyPr/>
          <a:lstStyle/>
          <a:p>
            <a:endParaRPr lang="fr-FR"/>
          </a:p>
        </p:txBody>
      </p:sp>
      <p:pic>
        <p:nvPicPr>
          <p:cNvPr id="14" name="Formule Mode « refine »" descr="Formule : Mode « refine »"/>
          <p:cNvPicPr>
            <a:picLocks noChangeAspect="1"/>
          </p:cNvPicPr>
          <p:nvPr/>
        </p:nvPicPr>
        <p:blipFill>
          <a:blip r:embed="rId5"/>
          <a:stretch>
            <a:fillRect/>
          </a:stretch>
        </p:blipFill>
        <p:spPr>
          <a:xfrm>
            <a:off x="4189476" y="3456432"/>
            <a:ext cx="2959608" cy="310896"/>
          </a:xfrm>
          <a:prstGeom prst="rect">
            <a:avLst/>
          </a:prstGeom>
        </p:spPr>
      </p:pic>
      <p:sp>
        <p:nvSpPr>
          <p:cNvPr id="15" name="Légende formules"/>
          <p:cNvSpPr txBox="1"/>
          <p:nvPr/>
        </p:nvSpPr>
        <p:spPr>
          <a:xfrm>
            <a:off x="548640" y="4206240"/>
            <a:ext cx="8046720" cy="457200"/>
          </a:xfrm>
          <a:prstGeom prst="rect">
            <a:avLst/>
          </a:prstGeom>
          <a:noFill/>
          <a:ln/>
        </p:spPr>
        <p:txBody>
          <a:bodyPr wrap="square" lIns="0" tIns="0" rIns="0" bIns="0" rtlCol="0" anchor="t"/>
          <a:lstStyle/>
          <a:p>
            <a:pPr marL="0" indent="0">
              <a:buNone/>
            </a:pPr>
            <a:r>
              <a:rPr lang="en-US" sz="1200" i="1" dirty="0">
                <a:solidFill>
                  <a:schemeClr val="tx2"/>
                </a:solidFill>
              </a:rPr>
              <a:t>S(R) : phrases des rapports  ·  f : produit scalaire  ·  Q : instructions  ·  P : prompt  ·  I : impression  ·  S_i : i-ème phrase</a:t>
            </a:r>
            <a:endParaRPr lang="en-US" sz="1200" dirty="0"/>
          </a:p>
        </p:txBody>
      </p:sp>
      <p:sp>
        <p:nvSpPr>
          <p:cNvPr id="25" name="Slide Number Placeholder 0"/>
          <p:cNvSpPr>
            <a:spLocks noGrp="1"/>
          </p:cNvSpPr>
          <p:nvPr>
            <p:ph type="sldNum" sz="quarter" idx="4294967295"/>
          </p:nvPr>
        </p:nvSpPr>
        <p:spPr>
          <a:xfrm>
            <a:off x="8138160" y="4736592"/>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RAG Medical">
  <a:themeElements>
    <a:clrScheme name="RAG Medical">
      <a:dk1>
        <a:srgbClr val="1B2A33"/>
      </a:dk1>
      <a:lt1>
        <a:srgbClr val="FFFFFF"/>
      </a:lt1>
      <a:dk2>
        <a:srgbClr val="0E4D5C"/>
      </a:dk2>
      <a:lt2>
        <a:srgbClr val="EAF4F4"/>
      </a:lt2>
      <a:accent1>
        <a:srgbClr val="028090"/>
      </a:accent1>
      <a:accent2>
        <a:srgbClr val="D9623B"/>
      </a:accent2>
      <a:accent3>
        <a:srgbClr val="2A9D8F"/>
      </a:accent3>
      <a:accent4>
        <a:srgbClr val="264653"/>
      </a:accent4>
      <a:accent5>
        <a:srgbClr val="E9C46A"/>
      </a:accent5>
      <a:accent6>
        <a:srgbClr val="8AB17D"/>
      </a:accent6>
      <a:hlink>
        <a:srgbClr val="028090"/>
      </a:hlink>
      <a:folHlink>
        <a:srgbClr val="5B6B73"/>
      </a:folHlink>
    </a:clrScheme>
    <a:fontScheme name="RAG Med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3654</Words>
  <Application>Microsoft Office PowerPoint</Application>
  <PresentationFormat>Affichage à l'écran (16:9)</PresentationFormat>
  <Paragraphs>249</Paragraphs>
  <Slides>20</Slides>
  <Notes>20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Calibri</vt:lpstr>
      <vt:lpstr>Cambria</vt:lpstr>
      <vt:lpstr>RAG Medical</vt:lpstr>
      <vt:lpstr>Présentation PowerPoint</vt:lpstr>
      <vt:lpstr>Sommaire</vt:lpstr>
      <vt:lpstr>Le problème : un LLM seul ne suffit pas</vt:lpstr>
      <vt:lpstr>La solution : le RAG</vt:lpstr>
      <vt:lpstr>Architecture du RAG : deux phases</vt:lpstr>
      <vt:lpstr>Les trois paradigmes du RAG</vt:lpstr>
      <vt:lpstr>Trois générations de RAG multimodal</vt:lpstr>
      <vt:lpstr>Le RAG multimodal sous six angles</vt:lpstr>
      <vt:lpstr>Exemple visuel : ColPali</vt:lpstr>
      <vt:lpstr>ColPali : résultats sur ViDoRe</vt:lpstr>
      <vt:lpstr>Cas concret : CXR-RePaiR-Gen</vt:lpstr>
      <vt:lpstr>Résultats : un gain en similarité sémantique</vt:lpstr>
      <vt:lpstr>Analyse critique : apports et limites</vt:lpstr>
      <vt:lpstr>Enjeux éthiques</vt:lpstr>
      <vt:lpstr>À retenir</vt:lpstr>
      <vt:lpstr>Références</vt:lpstr>
      <vt:lpstr>Annexe : composants du RAG</vt:lpstr>
      <vt:lpstr>Annexe : formules du RAG</vt:lpstr>
      <vt:lpstr>Annexe : formules du RAG multimodal</vt:lpstr>
      <vt:lpstr>Annexe : formules de CXR-RePaiR-Gen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multimodal en médecine</dc:title>
  <dc:subject>PptxGenJS Presentation</dc:subject>
  <dc:creator>PptxGenJS</dc:creator>
  <cp:lastModifiedBy>AHEBIE ATCHE  MARC</cp:lastModifiedBy>
  <cp:revision>2</cp:revision>
  <dcterms:created xsi:type="dcterms:W3CDTF">2026-10-27T06:08:48Z</dcterms:created>
  <dcterms:modified xsi:type="dcterms:W3CDTF">2026-10-29T19:41:05Z</dcterms:modified>
</cp:coreProperties>
</file>